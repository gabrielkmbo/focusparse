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777"/>
  </p:normalViewPr>
  <p:slideViewPr>
    <p:cSldViewPr snapToGrid="0">
      <p:cViewPr varScale="1">
        <p:scale>
          <a:sx n="88" d="100"/>
          <a:sy n="88" d="100"/>
        </p:scale>
        <p:origin x="1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</a:t>
            </a:r>
          </a:p>
          <a:p>
            <a:endParaRPr/>
          </a:p>
          <a:p>
            <a:r>
              <a:t>- Frame FocusParse as a research system for document QA, not just another parser.</a:t>
            </a:r>
          </a:p>
          <a:p>
            <a:r>
              <a:t>- Core question: can a structured evidence-localization harness make the same frontier reasoner more accurate, cheaper, and faster?</a:t>
            </a:r>
          </a:p>
          <a:p>
            <a:r>
              <a:t>- Name the domains immediately: high-resolution finance documents and technical datasheets.</a:t>
            </a:r>
          </a:p>
          <a:p>
            <a:r>
              <a:t>- Set the audience expectation: the talk moves from motivation, to benchmark construction, to method comparisons, to qualitative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</a:t>
            </a:r>
          </a:p>
          <a:p>
            <a:endParaRPr/>
          </a:p>
          <a:p>
            <a:r>
              <a:t>- Use this as a breath before changing topics.</a:t>
            </a:r>
          </a:p>
          <a:p>
            <a:r>
              <a:t>- Tell the audience what section they just finished and what question the next section answers.</a:t>
            </a:r>
          </a:p>
          <a:p>
            <a:r>
              <a:t>- Next section purpose: Start with the claim, then establish what is held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 important point</a:t>
            </a:r>
          </a:p>
          <a:p>
            <a:endParaRPr/>
          </a:p>
          <a:p>
            <a:r>
              <a:t>- The project is about evidence localization under budget, not generic OCR accuracy.</a:t>
            </a:r>
          </a:p>
          <a:p>
            <a:r>
              <a:t>- Hard failures come from tiny evidence: axis ticks, legends, footnotes, condition notes, pin labels, and dense table cells.</a:t>
            </a:r>
          </a:p>
          <a:p>
            <a:r>
              <a:t>- Many answers require cross-region binding: legend to series, footnote to chart, condition note to table row, caption to figure.</a:t>
            </a:r>
          </a:p>
          <a:p>
            <a:r>
              <a:t>- Production pressure matters: parsing every page with expensive frontier calls is not scalable.</a:t>
            </a:r>
          </a:p>
          <a:p>
            <a:r>
              <a:t>- Long-term arc: collect good action traces now, then distill the behavior into an open smaller model such as Qwen-class 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Related work framing</a:t>
            </a:r>
          </a:p>
          <a:p>
            <a:endParaRPr/>
          </a:p>
          <a:p>
            <a:r>
              <a:t>- Treat the papers as design inheritance, not as strawmen.</a:t>
            </a:r>
          </a:p>
          <a:p>
            <a:r>
              <a:t>- AgenticOCR contributes query-conditioned zoom/OCR and rewards that penalize wasteful evidence behavior.</a:t>
            </a:r>
          </a:p>
          <a:p>
            <a:r>
              <a:t>- DocLens contributes hierarchical page navigation, element localization, and answer adjudication.</a:t>
            </a:r>
          </a:p>
          <a:p>
            <a:r>
              <a:t>- Gemini Agentic Vision contributes active visual investigation with code, crops, annotations, counting, and computation.</a:t>
            </a:r>
          </a:p>
          <a:p>
            <a:r>
              <a:t>- FocusParse differs by making typed linked EvidencePackets and verifier-directed repair the central runtime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Thesis slide</a:t>
            </a:r>
          </a:p>
          <a:p>
            <a:endParaRPr/>
          </a:p>
          <a:p>
            <a:r>
              <a:t>- State the thesis plainly: architecture is the independent variable.</a:t>
            </a:r>
          </a:p>
          <a:p>
            <a:r>
              <a:t>- All obvious confounders are held constant: reasoner model, benchmark revision, protocol, prompt budget, and scoring rule.</a:t>
            </a:r>
          </a:p>
          <a:p>
            <a:r>
              <a:t>- The claim is not that FocusParse has a better base model; it organizes evidence better before the same reasoner answers.</a:t>
            </a:r>
          </a:p>
          <a:p>
            <a:r>
              <a:t>- Preview the headline: higher accuracy, lower cost per correct, and lower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Experimental setup</a:t>
            </a:r>
          </a:p>
          <a:p>
            <a:endParaRPr/>
          </a:p>
          <a:p>
            <a:r>
              <a:t>- n=148 canonical validation rows after filtering stress variants.</a:t>
            </a:r>
          </a:p>
          <a:p>
            <a:r>
              <a:t>- Domain split: 101 datasheet examples and 47 finance examples.</a:t>
            </a:r>
          </a:p>
          <a:p>
            <a:r>
              <a:t>- Every method uses openai/gpt-5.4 as the reasoner under the agentic_multi_page protocol.</a:t>
            </a:r>
          </a:p>
          <a:p>
            <a:r>
              <a:t>- Comparators and harness methods share the same page-list access and tool registry.</a:t>
            </a:r>
          </a:p>
          <a:p>
            <a:r>
              <a:t>- Independent variable has four levels: Base VLM, Generic ReAct, Generic agent baseline, and FocusParse harness.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</a:t>
            </a:r>
          </a:p>
          <a:p>
            <a:endParaRPr/>
          </a:p>
          <a:p>
            <a:r>
              <a:t>- Use this as a breath before changing topics.</a:t>
            </a:r>
          </a:p>
          <a:p>
            <a:r>
              <a:t>- Tell the audience what section they just finished and what question the next section answers.</a:t>
            </a:r>
          </a:p>
          <a:p>
            <a:r>
              <a:t>- Next section purpose: How the benchmark is curated, gated, and made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Benchmark goal</a:t>
            </a:r>
          </a:p>
          <a:p>
            <a:endParaRPr/>
          </a:p>
          <a:p>
            <a:r>
              <a:t>- Parser-Bench is designed for citation-required visual QA, not end-to-end transcription.</a:t>
            </a:r>
          </a:p>
          <a:p>
            <a:r>
              <a:t>- Each row asks the system to localize evidence, reason over it, and cite pages plus bounding boxes.</a:t>
            </a:r>
          </a:p>
          <a:p>
            <a:r>
              <a:t>- The citation requirement makes correctness auditable and separates lucky answers from supported answers.</a:t>
            </a:r>
          </a:p>
          <a:p>
            <a:r>
              <a:t>- The two corpora are intentionally disjoint: finance filings/reports and semiconductor datasheets/reference manuals.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Curation pipeline</a:t>
            </a:r>
          </a:p>
          <a:p>
            <a:endParaRPr/>
          </a:p>
          <a:p>
            <a:r>
              <a:t>- Describe this as deterministic data manufacturing from raw PDFs to JSONL/HF rows.</a:t>
            </a:r>
          </a:p>
          <a:p>
            <a:r>
              <a:t>- Acquisition records public sources, metadata, and SHA so the benchmark can be reconstructed without redistributing PDFs.</a:t>
            </a:r>
          </a:p>
          <a:p>
            <a:r>
              <a:t>- Preprocessing creates aligned modalities: pixels at fixed DPIs, native PDF text spans, and OCR spans.</a:t>
            </a:r>
          </a:p>
          <a:p>
            <a:r>
              <a:t>- Layout detection and evidence graphs turn raw pages into regions and links.</a:t>
            </a:r>
          </a:p>
          <a:p>
            <a:r>
              <a:t>- Teacher-verifier synthesis, adversarial filters, stress transforms, and document-level splits produce the final benchmark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graph</a:t>
            </a:r>
          </a:p>
          <a:p>
            <a:endParaRPr/>
          </a:p>
          <a:p>
            <a:r>
              <a:t>- This is what makes the benchmark target cross-region reasoning by construction.</a:t>
            </a:r>
          </a:p>
          <a:p>
            <a:r>
              <a:t>- Nodes are detected regions such as charts, tables, captions, footnotes, curves, diagrams, and text blocks.</a:t>
            </a:r>
          </a:p>
          <a:p>
            <a:r>
              <a:t>- Edges encode spatial adjacency, containment/caption binding, cross-page continuations, and distant references.</a:t>
            </a:r>
          </a:p>
          <a:p>
            <a:r>
              <a:t>- Subgraph sampling starts from visually rich regions and expands to easy, medium, or hard examples.</a:t>
            </a:r>
          </a:p>
          <a:p>
            <a:r>
              <a:t>- The family taxonomy makes sure examples cover finance and datasheet question types instead of drifting into generic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Validation gates</a:t>
            </a:r>
          </a:p>
          <a:p>
            <a:endParaRPr/>
          </a:p>
          <a:p>
            <a:r>
              <a:t>- Emphasize that one teacher prompt is not enough; every candidate goes through independent verification.</a:t>
            </a:r>
          </a:p>
          <a:p>
            <a:r>
              <a:t>- Teacher emits the question, answer, answer type, unit/tolerance, reasoning chain, and cited regions.</a:t>
            </a:r>
          </a:p>
          <a:p>
            <a:r>
              <a:t>- Verifier only sees the cited evidence crops and must independently recover the answer.</a:t>
            </a:r>
          </a:p>
          <a:p>
            <a:r>
              <a:t>- Quality gates reject trivial reasoning and multi-region prompts that collapse to one lookup.</a:t>
            </a:r>
          </a:p>
          <a:p>
            <a:r>
              <a:t>- Text-only, OCR-only, question-only, and no-citation filters prevent examples that do not genuinely require localized visual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Reproducibility</a:t>
            </a:r>
          </a:p>
          <a:p>
            <a:endParaRPr/>
          </a:p>
          <a:p>
            <a:r>
              <a:t>- Use this slide to answer: can another person rerun the benchmark recipe?</a:t>
            </a:r>
          </a:p>
          <a:p>
            <a:r>
              <a:t>- Important fixed knobs: rendering DPIs 300/150/72, split seed 42, layout confidence 0.5, and documented dedup thresholds.</a:t>
            </a:r>
          </a:p>
          <a:p>
            <a:r>
              <a:t>- LLM stages are pinned and run at temperature zero where used for generation or judging.</a:t>
            </a:r>
          </a:p>
          <a:p>
            <a:r>
              <a:t>- Long documents are deterministically sampled using hash(doc_id), avoiding ad hoc page selection.</a:t>
            </a:r>
          </a:p>
          <a:p>
            <a:r>
              <a:t>- Holdout integrity is protected by redacting answers and reasoning chains in exported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</a:t>
            </a:r>
          </a:p>
          <a:p>
            <a:endParaRPr/>
          </a:p>
          <a:p>
            <a:r>
              <a:t>- Use this as a breath before changing topics.</a:t>
            </a:r>
          </a:p>
          <a:p>
            <a:r>
              <a:t>- Tell the audience what section they just finished and what question the next section answers.</a:t>
            </a:r>
          </a:p>
          <a:p>
            <a:r>
              <a:t>- Next section purpose: Accuracy, cost, and latency across the controlled seven-method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Accuracy by domain</a:t>
            </a:r>
          </a:p>
          <a:p>
            <a:endParaRPr/>
          </a:p>
          <a:p>
            <a:r>
              <a:t>- This is the clearest visual proof that the win is not just an aggregate artifact.</a:t>
            </a:r>
          </a:p>
          <a:p>
            <a:r>
              <a:t>- Harness +2 is highest in datasheets at 56.4 percent and highest overall at 50.0 percent.</a:t>
            </a:r>
          </a:p>
          <a:p>
            <a:r>
              <a:t>- Harness +2 also leads finance at 36.2 percent; Base VLM is 31.9 percent and ReAct/agent baselines are much lower.</a:t>
            </a:r>
          </a:p>
          <a:p>
            <a:r>
              <a:t>- The comparison is controlled: same benchmark revision, same reasoner, same protocol.</a:t>
            </a:r>
          </a:p>
          <a:p>
            <a:r>
              <a:t>- Bridge: now move from benchmark construction into why this method is architecturally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</a:t>
            </a:r>
          </a:p>
          <a:p>
            <a:endParaRPr/>
          </a:p>
          <a:p>
            <a:r>
              <a:t>- Use this as a breath before changing topics.</a:t>
            </a:r>
          </a:p>
          <a:p>
            <a:r>
              <a:t>- Tell the audience what section they just finished and what question the next section answers.</a:t>
            </a:r>
          </a:p>
          <a:p>
            <a:r>
              <a:t>- Next section purpose: Where this work fits and what FocusParse adds structurally.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 context</a:t>
            </a:r>
          </a:p>
          <a:p>
            <a:endParaRPr/>
          </a:p>
          <a:p>
            <a:r>
              <a:t>- Position FocusParse in the evidence-localization turn in document QA.</a:t>
            </a:r>
          </a:p>
          <a:p>
            <a:r>
              <a:t>- AgenticOCR shows that parsing only what is needed can beat full-page OCR approaches.</a:t>
            </a:r>
          </a:p>
          <a:p>
            <a:r>
              <a:t>- DocLens shows that page navigation and element localization should be separated before reasoning.</a:t>
            </a:r>
          </a:p>
          <a:p>
            <a:r>
              <a:t>- Gemini Agentic Vision shows that code/tools can act as visual scratchpads for inspection.</a:t>
            </a:r>
          </a:p>
          <a:p>
            <a:r>
              <a:t>- FocusParse turns these ideas into a structured, instrumented harness for parser-bench-style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Harness architecture</a:t>
            </a:r>
          </a:p>
          <a:p>
            <a:endParaRPr/>
          </a:p>
          <a:p>
            <a:r>
              <a:t>- Walk through the state machine: plan, route, localize, rerank, inspect, expand, answer, verify.</a:t>
            </a:r>
          </a:p>
          <a:p>
            <a:r>
              <a:t>- The main design move is separating evidence construction from answer generation.</a:t>
            </a:r>
          </a:p>
          <a:p>
            <a:r>
              <a:t>- The reasoner receives typed EvidencePackets, not raw pages or messy tool transcripts.</a:t>
            </a:r>
          </a:p>
          <a:p>
            <a:r>
              <a:t>- EvidencePackets can carry multi-scale crops, linked crop refs, neighbor roles, and chart/table artifacts.</a:t>
            </a:r>
          </a:p>
          <a:p>
            <a:r>
              <a:t>- The verifier can direct repair actions instead of merely judging the final answer after the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Headline accuracy</a:t>
            </a:r>
          </a:p>
          <a:p>
            <a:endParaRPr/>
          </a:p>
          <a:p>
            <a:r>
              <a:t>- Harness +2 reaches 50.0 percent overall accuracy.</a:t>
            </a:r>
          </a:p>
          <a:p>
            <a:r>
              <a:t>- Base VLM reaches 37.8 percent, so the structured harness adds about 12 points over one-shot vision.</a:t>
            </a:r>
          </a:p>
          <a:p>
            <a:r>
              <a:t>- ReAct +2/+4 are around 13.5 to 14.2 percent despite having tools.</a:t>
            </a:r>
          </a:p>
          <a:p>
            <a:r>
              <a:t>- Generic agent baselines are below 9 percent overall.</a:t>
            </a:r>
          </a:p>
          <a:p>
            <a:r>
              <a:t>- Interpretation: tool availability is not enough; the architecture must force useful localization before answering.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Cost frontier</a:t>
            </a:r>
          </a:p>
          <a:p>
            <a:endParaRPr/>
          </a:p>
          <a:p>
            <a:r>
              <a:t>- Explain cost-per-correct rather than per-call cost, because the research claim is about useful answers.</a:t>
            </a:r>
          </a:p>
          <a:p>
            <a:r>
              <a:t>- Harness +2 costs about $0.015 per correct answer.</a:t>
            </a:r>
          </a:p>
          <a:p>
            <a:r>
              <a:t>- ReAct +4 costs about $0.24 per correct answer, roughly a 16x gap.</a:t>
            </a:r>
          </a:p>
          <a:p>
            <a:r>
              <a:t>- ReAct is expensive because it spends exploratory LLM round trips that do not reliably improve localization.</a:t>
            </a:r>
          </a:p>
          <a:p>
            <a:r>
              <a:t>- The harness is on the Pareto frontier because it is both accurate and inexpensive per correct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Latency frontier</a:t>
            </a:r>
          </a:p>
          <a:p>
            <a:endParaRPr/>
          </a:p>
          <a:p>
            <a:r>
              <a:t>- The surprising result is that the multi-stage harness is still the fastest method.</a:t>
            </a:r>
          </a:p>
          <a:p>
            <a:r>
              <a:t>- Harness latency is about 2.5 seconds; Base VLM is about 3.0 seconds.</a:t>
            </a:r>
          </a:p>
          <a:p>
            <a:r>
              <a:t>- Generic agents are slower, and ReAct is much slower at 16 to 21 seconds.</a:t>
            </a:r>
          </a:p>
          <a:p>
            <a:r>
              <a:t>- Reason: most routing/layout work is cached or deterministic, while ReAct pays multiple LLM round trips per example.</a:t>
            </a:r>
          </a:p>
          <a:p>
            <a:r>
              <a:t>- This supports the product argument: structure can improve accuracy without making the system slower.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</a:t>
            </a:r>
          </a:p>
          <a:p>
            <a:endParaRPr/>
          </a:p>
          <a:p>
            <a:r>
              <a:t>- Use this as a breath before changing topics.</a:t>
            </a:r>
          </a:p>
          <a:p>
            <a:r>
              <a:t>- Tell the audience what section they just finished and what question the next section answers.</a:t>
            </a:r>
          </a:p>
          <a:p>
            <a:r>
              <a:t>- Next section purpose: Why the harness wins: region localization, verifier discipline, and exact evidence-aware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Mechanism: localization</a:t>
            </a:r>
          </a:p>
          <a:p>
            <a:endParaRPr/>
          </a:p>
          <a:p>
            <a:r>
              <a:t>- This slide explains why the accuracy gap appears.</a:t>
            </a:r>
          </a:p>
          <a:p>
            <a:r>
              <a:t>- Page recall is not the main differentiator; several methods find roughly plausible pages.</a:t>
            </a:r>
          </a:p>
          <a:p>
            <a:r>
              <a:t>- Region IoU is the differentiator: FocusParse gets roughly 66-71 percent mean bbox IoU versus ReAct around 29-32 percent.</a:t>
            </a:r>
          </a:p>
          <a:p>
            <a:r>
              <a:t>- Same toolbelt, different control structure: FocusParse ranks and inspects regions before reasoning.</a:t>
            </a:r>
          </a:p>
          <a:p>
            <a:r>
              <a:t>- Conclusion: the harness wins by putting the right crop in front of the same reasoner.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Mechanism: verifier discipline</a:t>
            </a:r>
          </a:p>
          <a:p>
            <a:endParaRPr/>
          </a:p>
          <a:p>
            <a:r>
              <a:t>- Define lazy rate: how often the method answers without ever using a tool.</a:t>
            </a:r>
          </a:p>
          <a:p>
            <a:r>
              <a:t>- ReAct is lazy on roughly one in five examples; the harness is lower at about 9.5 percent for +2.</a:t>
            </a:r>
          </a:p>
          <a:p>
            <a:r>
              <a:t>- The harness abstains more because the verifier marks unsupported answers instead of letting the model hallucinate.</a:t>
            </a:r>
          </a:p>
          <a:p>
            <a:r>
              <a:t>- This matters for unanswerable rows, where honest abstention is the correct behavior.</a:t>
            </a:r>
          </a:p>
          <a:p>
            <a:r>
              <a:t>- The verifier is a controller: it can accept, request retry localization, expand context, abstain, or escalate.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Qualitative example</a:t>
            </a:r>
          </a:p>
          <a:p>
            <a:endParaRPr/>
          </a:p>
          <a:p>
            <a:r>
              <a:t>- Read the question briefly, then name the gold answer.</a:t>
            </a:r>
          </a:p>
          <a:p>
            <a:r>
              <a:t>- Use the table to show that the harness returns the exact canonical answer while other methods fail.</a:t>
            </a:r>
          </a:p>
          <a:p>
            <a:r>
              <a:t>- Emphasize the mechanism rather than the anecdote: the harness scopes the evidence and constrains the answer format.</a:t>
            </a:r>
          </a:p>
          <a:p>
            <a:r>
              <a:t>- For datasheets, the win is usually choosing the right diagram/table/caption context.</a:t>
            </a:r>
          </a:p>
          <a:p>
            <a:r>
              <a:t>- For finance, the win is often exact table literal extraction or cross-region chart/table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Qualitative example</a:t>
            </a:r>
          </a:p>
          <a:p>
            <a:endParaRPr/>
          </a:p>
          <a:p>
            <a:r>
              <a:t>- Read the question briefly, then name the gold answer.</a:t>
            </a:r>
          </a:p>
          <a:p>
            <a:r>
              <a:t>- Use the table to show that the harness returns the exact canonical answer while other methods fail.</a:t>
            </a:r>
          </a:p>
          <a:p>
            <a:r>
              <a:t>- Emphasize the mechanism rather than the anecdote: the harness scopes the evidence and constrains the answer format.</a:t>
            </a:r>
          </a:p>
          <a:p>
            <a:r>
              <a:t>- For datasheets, the win is usually choosing the right diagram/table/caption context.</a:t>
            </a:r>
          </a:p>
          <a:p>
            <a:r>
              <a:t>- For finance, the win is often exact table literal extraction or cross-region chart/table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Qualitative example</a:t>
            </a:r>
          </a:p>
          <a:p>
            <a:endParaRPr/>
          </a:p>
          <a:p>
            <a:r>
              <a:t>- Read the question briefly, then name the gold answer.</a:t>
            </a:r>
          </a:p>
          <a:p>
            <a:r>
              <a:t>- Use the table to show that the harness returns the exact canonical answer while other methods fail.</a:t>
            </a:r>
          </a:p>
          <a:p>
            <a:r>
              <a:t>- Emphasize the mechanism rather than the anecdote: the harness scopes the evidence and constrains the answer format.</a:t>
            </a:r>
          </a:p>
          <a:p>
            <a:r>
              <a:t>- For datasheets, the win is usually choosing the right diagram/table/caption context.</a:t>
            </a:r>
          </a:p>
          <a:p>
            <a:r>
              <a:t>- For finance, the win is often exact table literal extraction or cross-region chart/table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 count ablation</a:t>
            </a:r>
          </a:p>
          <a:p>
            <a:endParaRPr/>
          </a:p>
          <a:p>
            <a:r>
              <a:t>- This slide isolates the 'more tools' explanation.</a:t>
            </a:r>
          </a:p>
          <a:p>
            <a:r>
              <a:t>- For ReAct, +2 to +4 tools buys only +0.7 percentage points while increasing cost materially.</a:t>
            </a:r>
          </a:p>
          <a:p>
            <a:r>
              <a:t>- For the generic agent baseline, +4 tools actually hurts accuracy.</a:t>
            </a:r>
          </a:p>
          <a:p>
            <a:r>
              <a:t>- For the harness, +4 also drops in this revision; interpret this as a known routing bug in the LLM dispatcher slice, not a universal law.</a:t>
            </a:r>
          </a:p>
          <a:p>
            <a:r>
              <a:t>- Conclusion: tool count alone is not the load-bearing variable; controlled evidence workflow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Failure-mode shift</a:t>
            </a:r>
          </a:p>
          <a:p>
            <a:endParaRPr/>
          </a:p>
          <a:p>
            <a:r>
              <a:t>- When the harness is wrong, it usually already found the right region.</a:t>
            </a:r>
          </a:p>
          <a:p>
            <a:r>
              <a:t>- The dominant bucket is right region, wrong answer: 62 cases, about 81 percent of wrong answers.</a:t>
            </a:r>
          </a:p>
          <a:p>
            <a:r>
              <a:t>- Localization misses are much smaller, about 11 cases.</a:t>
            </a:r>
          </a:p>
          <a:p>
            <a:r>
              <a:t>- This is mechanistic evidence that the harness solved much of the localization problem but exposed extraction/reasoning as the next bottleneck.</a:t>
            </a:r>
          </a:p>
          <a:p>
            <a:r>
              <a:t>- Next candidate fixes: self-consistency, chart-to-table extraction, stronger exact-match prompting, and domain-specific prompt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</a:t>
            </a:r>
          </a:p>
          <a:p>
            <a:endParaRPr/>
          </a:p>
          <a:p>
            <a:r>
              <a:t>- Use this as a breath before changing topics.</a:t>
            </a:r>
          </a:p>
          <a:p>
            <a:r>
              <a:t>- Tell the audience what section they just finished and what question the next section answers.</a:t>
            </a:r>
          </a:p>
          <a:p>
            <a:r>
              <a:t>- Next section purpose: What the evidence supports now, and what still needs replicate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Within-harness ablations</a:t>
            </a:r>
          </a:p>
          <a:p>
            <a:endParaRPr dirty="0"/>
          </a:p>
          <a:p>
            <a:r>
              <a:rPr dirty="0"/>
              <a:t>- Present these as directional mechanism evidence, not final statistical separation.</a:t>
            </a:r>
          </a:p>
          <a:p>
            <a:r>
              <a:rPr dirty="0"/>
              <a:t>- Phase 4 improves overall accuracy to 48.0 percent and finance to 43.2 percent.</a:t>
            </a:r>
          </a:p>
          <a:p>
            <a:r>
              <a:rPr dirty="0"/>
              <a:t>- Phase 6a reaches 48.6 percent overall and strongly helps datasheets, but finance drops.</a:t>
            </a:r>
          </a:p>
          <a:p>
            <a:r>
              <a:rPr dirty="0"/>
              <a:t>- The domain divergence suggests datasheets and finance have different bottlenecks.</a:t>
            </a:r>
          </a:p>
          <a:p>
            <a:r>
              <a:rPr dirty="0"/>
              <a:t>- Because single-run variance is large, small deltas need replicate runs before becoming paper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Honest assessment</a:t>
            </a:r>
          </a:p>
          <a:p>
            <a:endParaRPr/>
          </a:p>
          <a:p>
            <a:r>
              <a:t>- Separate large cross-method claims from small within-harness deltas.</a:t>
            </a:r>
          </a:p>
          <a:p>
            <a:r>
              <a:t>- Can claim: large 12-42 point cross-method effects, aligned mechanism metrics, and robust cost-per-correct gains.</a:t>
            </a:r>
          </a:p>
          <a:p>
            <a:r>
              <a:t>- Cannot yet claim: 95 percent confidence on 1-5 point harness deltas.</a:t>
            </a:r>
          </a:p>
          <a:p>
            <a:r>
              <a:t>- Also cannot claim fully optimized comparators or generalization beyond parser-bench-like datasheets and finance docs.</a:t>
            </a:r>
          </a:p>
          <a:p>
            <a:r>
              <a:t>- This honesty strengthens the research story because it distinguishes the headline claim from the next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</a:t>
            </a:r>
          </a:p>
          <a:p>
            <a:endParaRPr/>
          </a:p>
          <a:p>
            <a:r>
              <a:t>- End on the one number the audience should remember.</a:t>
            </a:r>
          </a:p>
          <a:p>
            <a:r>
              <a:t>- FocusParse produces a correct answer for about $0.015.</a:t>
            </a:r>
          </a:p>
          <a:p>
            <a:r>
              <a:t>- ReAct +4 produces a correct answer for about $0.24 while being less accurate.</a:t>
            </a:r>
          </a:p>
          <a:p>
            <a:r>
              <a:t>- The next scientific step is variance discipline: run at least two replicates per cell under cached deterministic upstream stages.</a:t>
            </a:r>
          </a:p>
          <a:p>
            <a:r>
              <a:t>- Then test domain prompt routing, self-consistency, and chart/table extraction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8591169-B5A4-43BB-9CFD-69C78425FE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C5015E-2756-4B23-B98D-045E3F1402AB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FOCUSPARSE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3DCE22-8BCD-4609-A88E-1D95CBA87E89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2C859-4751-4AF1-8022-75F8697F5972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 structured harness for evidence-localized document QA.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5DFCD7-B6A0-4470-8DC0-6A8A4ACDCFA0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970ED-9DF2-4DC0-BD2C-AB5031AD84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6858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FocusParse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6B92E-90A8-4727-B25F-6E513B153F86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6572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0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A structured harness beats generic agents at document 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948F6E-000C-43C4-A893-164CC7559827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2381250" cy="23812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BA7EB0-4C95-4DA0-9D44-5361E7C3ED54}"/>
              </a:ext>
            </a:extLst>
          </p:cNvPr>
          <p:cNvSpPr>
            <a:spLocks noGrp="1"/>
          </p:cNvSpPr>
          <p:nvPr/>
        </p:nvSpPr>
        <p:spPr>
          <a:xfrm>
            <a:off x="8591550" y="2943542"/>
            <a:ext cx="1771650" cy="8947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layout-first</a:t>
            </a:r>
          </a:p>
          <a:p>
            <a:pPr algn="ctr">
              <a:defRPr sz="17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typed evidence</a:t>
            </a:r>
          </a:p>
          <a:p>
            <a:pPr algn="ctr">
              <a:defRPr sz="17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725" b="1" dirty="0">
                <a:solidFill>
                  <a:srgbClr val="F7F3EA"/>
                </a:solidFill>
                <a:latin typeface="Aptos"/>
                <a:ea typeface="Aptos"/>
                <a:cs typeface="Aptos"/>
              </a:rPr>
              <a:t>verifier control</a:t>
            </a:r>
          </a:p>
        </p:txBody>
      </p:sp>
    </p:spTree>
    <p:extLst>
      <p:ext uri="{BB962C8B-B14F-4D97-AF65-F5344CB8AC3E}">
        <p14:creationId xmlns:p14="http://schemas.microsoft.com/office/powerpoint/2010/main" val="104225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99C87B0-126A-4B2C-B852-D61B86DCC0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EA8519-E570-46B0-92EE-B3BEE1C6BFEB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CHAPTER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7AC513-488D-4C52-9D0E-914A4DB3E2E2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CDB371-3318-46EB-82CC-C2EF49561F1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Thesis and experimental frame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45D17D-0AA1-4DC8-971B-8DB2AE587EBF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Start with the claim, then establish what is held constant.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D647F-A082-449C-B914-A6FA81ED136F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24CEB8-6BFE-4360-9D53-D3AD85542C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C1E51A-6EB1-49D0-8883-6D62E6583482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CHAPTER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03756E-B8F4-4E7D-AA51-187202F055A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2476500" cy="190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8D31C4-1B2A-473C-B781-67F329B3C1CD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8382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Thesis and experimental frame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4995E4-A661-4115-B522-A5CC3A2B512B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Start with the claim, then establish what is held constant.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1BE9CD-3967-4831-BD6F-397FD284370E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365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867D6A7-1ADA-4B00-BE87-F4DB704F3C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DA7055-CB4D-4F19-8B66-69226EA8E79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A58C83-5D57-48E4-91DB-98635EFEE5E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3D5CE-84D5-4007-9D55-AEA0520C34D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bottleneck is evidence localization, not generic OCR.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E3FC7C-AB23-42CE-BCEA-8430CB4ED5A1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goal is a query-conditioned, budget-aware localization system that approaches frontier VLM quality on medium/hard financial-chart and technical-datasheet QA at lower cost, then distills the behavior into a smaller OSS model.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0A1E5-AE61-44C5-8E6B-4EB5F30EBA7D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49036B-4961-4A26-B142-9C11DFA934FD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4095750" cy="9144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BEA0BA-B113-4021-BD40-12A9D92EF32D}"/>
              </a:ext>
            </a:extLst>
          </p:cNvPr>
          <p:cNvSpPr>
            <a:spLocks noGrp="1"/>
          </p:cNvSpPr>
          <p:nvPr/>
        </p:nvSpPr>
        <p:spPr>
          <a:xfrm>
            <a:off x="990600" y="2438400"/>
            <a:ext cx="3657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Tiny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357E61-7D45-4473-BF48-724A633EDF35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3657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Axis ticks, legends, footnotes, condition notes, and pin labels disappear in full-page context.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280C14-8EF5-49D7-92F3-9AE53149E604}"/>
              </a:ext>
            </a:extLst>
          </p:cNvPr>
          <p:cNvSpPr>
            <a:spLocks noGrp="1"/>
          </p:cNvSpPr>
          <p:nvPr/>
        </p:nvSpPr>
        <p:spPr>
          <a:xfrm>
            <a:off x="781050" y="3581400"/>
            <a:ext cx="4095750" cy="9144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D1BBA3-303C-4BB4-B559-E3F1C9AB2471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3657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Cross-region reasoning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4694F9-4C14-4D6D-83CD-52FE987AF8EB}"/>
              </a:ext>
            </a:extLst>
          </p:cNvPr>
          <p:cNvSpPr>
            <a:spLocks noGrp="1"/>
          </p:cNvSpPr>
          <p:nvPr/>
        </p:nvSpPr>
        <p:spPr>
          <a:xfrm>
            <a:off x="990600" y="4076700"/>
            <a:ext cx="3657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Answers often require linking legend to series, footnote to chart, or condition note to table row.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6B78E9-35FD-4B9E-A0E2-F8250DEF0D09}"/>
              </a:ext>
            </a:extLst>
          </p:cNvPr>
          <p:cNvSpPr>
            <a:spLocks noGrp="1"/>
          </p:cNvSpPr>
          <p:nvPr/>
        </p:nvSpPr>
        <p:spPr>
          <a:xfrm>
            <a:off x="6381750" y="2266950"/>
            <a:ext cx="4095750" cy="9144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93D649-D1BE-45DE-8D54-13826B1B9932}"/>
              </a:ext>
            </a:extLst>
          </p:cNvPr>
          <p:cNvSpPr>
            <a:spLocks noGrp="1"/>
          </p:cNvSpPr>
          <p:nvPr/>
        </p:nvSpPr>
        <p:spPr>
          <a:xfrm>
            <a:off x="6591300" y="2438400"/>
            <a:ext cx="3657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Budget pressure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D61944-66CA-4477-A125-71F8B4658DA7}"/>
              </a:ext>
            </a:extLst>
          </p:cNvPr>
          <p:cNvSpPr>
            <a:spLocks noGrp="1"/>
          </p:cNvSpPr>
          <p:nvPr/>
        </p:nvSpPr>
        <p:spPr>
          <a:xfrm>
            <a:off x="6591300" y="2762250"/>
            <a:ext cx="3657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production parser cannot spend frontier-model calls on every page and every crop.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86C534-F813-4ACB-B9DA-CC118B9FEEB0}"/>
              </a:ext>
            </a:extLst>
          </p:cNvPr>
          <p:cNvSpPr>
            <a:spLocks noGrp="1"/>
          </p:cNvSpPr>
          <p:nvPr/>
        </p:nvSpPr>
        <p:spPr>
          <a:xfrm>
            <a:off x="6381750" y="3581400"/>
            <a:ext cx="4095750" cy="9144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0A56E4-9783-4A04-9EAD-F8AB4D094570}"/>
              </a:ext>
            </a:extLst>
          </p:cNvPr>
          <p:cNvSpPr>
            <a:spLocks noGrp="1"/>
          </p:cNvSpPr>
          <p:nvPr/>
        </p:nvSpPr>
        <p:spPr>
          <a:xfrm>
            <a:off x="6591300" y="3752850"/>
            <a:ext cx="3657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Training target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4C86EF-F513-4CD7-9945-DA42D4E91736}"/>
              </a:ext>
            </a:extLst>
          </p:cNvPr>
          <p:cNvSpPr>
            <a:spLocks noGrp="1"/>
          </p:cNvSpPr>
          <p:nvPr/>
        </p:nvSpPr>
        <p:spPr>
          <a:xfrm>
            <a:off x="6591300" y="4076700"/>
            <a:ext cx="3657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Save page picks, crops, OCR calls, retries, and verifier decisions as traces for later Qwen-style post-training.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38FC21-9DDD-4113-B4C2-99E98AAF0142}"/>
              </a:ext>
            </a:extLst>
          </p:cNvPr>
          <p:cNvSpPr>
            <a:spLocks noGrp="1"/>
          </p:cNvSpPr>
          <p:nvPr/>
        </p:nvSpPr>
        <p:spPr>
          <a:xfrm>
            <a:off x="800100" y="5162550"/>
            <a:ext cx="857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Overall goal: match frontier quality on medium/hard finance and datasheet tasks with fewer expensive calls, then distill the policy into an OSS smaller model.</a:t>
            </a:r>
          </a:p>
        </p:txBody>
      </p:sp>
    </p:spTree>
    <p:extLst>
      <p:ext uri="{BB962C8B-B14F-4D97-AF65-F5344CB8AC3E}">
        <p14:creationId xmlns:p14="http://schemas.microsoft.com/office/powerpoint/2010/main" val="1957141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48096CC-B514-491C-810A-1D2FC3684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EB9728-A86D-4A8D-9F1A-AF533839754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B08FB0-8B8E-41BE-8642-D970C0AB2988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408D6B-82A4-4655-9567-B40DE4889BC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 borrow the localization insight, but make it a full harness.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490F9F-DB87-499A-B75B-C3C50214D059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AgenticOCR, DocLens, and Gemini Agentic Vision motivate the design. FocusParse differs by making linked evidence packets and verifier-directed control the central runtime contract.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61AA0-8B76-4DBA-9B88-052C0AAE8533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58998F-0FA3-4DB5-A459-38DDAF849B2E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483FC-B071-4D6A-91B8-92C5076FD86D}"/>
              </a:ext>
            </a:extLst>
          </p:cNvPr>
          <p:cNvSpPr>
            <a:spLocks noGrp="1"/>
          </p:cNvSpPr>
          <p:nvPr/>
        </p:nvSpPr>
        <p:spPr>
          <a:xfrm>
            <a:off x="2133600" y="2114550"/>
            <a:ext cx="409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it contributes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287536-DBAD-474B-86CE-C6B2177AD1BB}"/>
              </a:ext>
            </a:extLst>
          </p:cNvPr>
          <p:cNvSpPr>
            <a:spLocks noGrp="1"/>
          </p:cNvSpPr>
          <p:nvPr/>
        </p:nvSpPr>
        <p:spPr>
          <a:xfrm>
            <a:off x="6229350" y="21145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FocusParse changes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F0CECF-8186-472B-9AC8-765326BFCA5A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10477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162424-023D-441A-8A0B-A5A6598440A6}"/>
              </a:ext>
            </a:extLst>
          </p:cNvPr>
          <p:cNvSpPr>
            <a:spLocks noGrp="1"/>
          </p:cNvSpPr>
          <p:nvPr/>
        </p:nvSpPr>
        <p:spPr>
          <a:xfrm>
            <a:off x="704850" y="2590800"/>
            <a:ext cx="1428750" cy="6286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07D424-6D7A-4C82-B59B-76A8F67A85EB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1162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AgenticOCR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4E2CAE-538A-4006-BC5F-35C6E9404FE1}"/>
              </a:ext>
            </a:extLst>
          </p:cNvPr>
          <p:cNvSpPr>
            <a:spLocks noGrp="1"/>
          </p:cNvSpPr>
          <p:nvPr/>
        </p:nvSpPr>
        <p:spPr>
          <a:xfrm>
            <a:off x="2400300" y="2609850"/>
            <a:ext cx="3733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Query-conditioned zoom/OCR; SFT + RL rewards for efficient evidence behavior.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89781E-5C90-4B45-BD7D-2A9A7B590CB8}"/>
              </a:ext>
            </a:extLst>
          </p:cNvPr>
          <p:cNvSpPr>
            <a:spLocks noGrp="1"/>
          </p:cNvSpPr>
          <p:nvPr/>
        </p:nvSpPr>
        <p:spPr>
          <a:xfrm>
            <a:off x="6629400" y="2609850"/>
            <a:ext cx="4305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FocusParse keeps the on-demand crop philosophy but adds cross-region evidence links and table-context preservation.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E911DD-043A-4142-B7FE-5CDAAC2BBF1D}"/>
              </a:ext>
            </a:extLst>
          </p:cNvPr>
          <p:cNvSpPr>
            <a:spLocks noGrp="1"/>
          </p:cNvSpPr>
          <p:nvPr/>
        </p:nvSpPr>
        <p:spPr>
          <a:xfrm>
            <a:off x="704850" y="3333750"/>
            <a:ext cx="101917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DA4908-7567-44B7-ABA4-2C5CBF48E63E}"/>
              </a:ext>
            </a:extLst>
          </p:cNvPr>
          <p:cNvSpPr>
            <a:spLocks noGrp="1"/>
          </p:cNvSpPr>
          <p:nvPr/>
        </p:nvSpPr>
        <p:spPr>
          <a:xfrm>
            <a:off x="704850" y="3467100"/>
            <a:ext cx="1428750" cy="6286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6B23F5-D8A4-41E6-A053-CAB0CA678D1B}"/>
              </a:ext>
            </a:extLst>
          </p:cNvPr>
          <p:cNvSpPr>
            <a:spLocks noGrp="1"/>
          </p:cNvSpPr>
          <p:nvPr/>
        </p:nvSpPr>
        <p:spPr>
          <a:xfrm>
            <a:off x="838200" y="3657600"/>
            <a:ext cx="1162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DocLens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1FA841-7779-4144-B2B4-1AB71E5FCB2D}"/>
              </a:ext>
            </a:extLst>
          </p:cNvPr>
          <p:cNvSpPr>
            <a:spLocks noGrp="1"/>
          </p:cNvSpPr>
          <p:nvPr/>
        </p:nvSpPr>
        <p:spPr>
          <a:xfrm>
            <a:off x="2400300" y="3486150"/>
            <a:ext cx="3733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Hierarchical page navigation, element localization, answer sampling/adjudication.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B92AA6-FC43-489F-AFFB-AC6014DBFA95}"/>
              </a:ext>
            </a:extLst>
          </p:cNvPr>
          <p:cNvSpPr>
            <a:spLocks noGrp="1"/>
          </p:cNvSpPr>
          <p:nvPr/>
        </p:nvSpPr>
        <p:spPr>
          <a:xfrm>
            <a:off x="6629400" y="3486150"/>
            <a:ext cx="4305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FocusParse borrows page-to-element decomposition but turns the verifier into a controller that routes repair actions.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F830F9-D2C1-4975-A91B-A86E2489BB5F}"/>
              </a:ext>
            </a:extLst>
          </p:cNvPr>
          <p:cNvSpPr>
            <a:spLocks noGrp="1"/>
          </p:cNvSpPr>
          <p:nvPr/>
        </p:nvSpPr>
        <p:spPr>
          <a:xfrm>
            <a:off x="704850" y="4210050"/>
            <a:ext cx="101917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EB0EFF-1360-4C13-B501-4CE68624DC8F}"/>
              </a:ext>
            </a:extLst>
          </p:cNvPr>
          <p:cNvSpPr>
            <a:spLocks noGrp="1"/>
          </p:cNvSpPr>
          <p:nvPr/>
        </p:nvSpPr>
        <p:spPr>
          <a:xfrm>
            <a:off x="704850" y="4343400"/>
            <a:ext cx="1428750" cy="6286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4ED5F6-E393-4FA8-9DCF-330285BD5238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1162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Gemini Agentic Vision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B55F0F-F648-49A0-ADD0-8FB75FB59939}"/>
              </a:ext>
            </a:extLst>
          </p:cNvPr>
          <p:cNvSpPr>
            <a:spLocks noGrp="1"/>
          </p:cNvSpPr>
          <p:nvPr/>
        </p:nvSpPr>
        <p:spPr>
          <a:xfrm>
            <a:off x="2400300" y="4362450"/>
            <a:ext cx="3733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Think-act-observe with Python crops, annotations, counting, and computation.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73F707-AF91-49B3-BB94-ABB47B2720AB}"/>
              </a:ext>
            </a:extLst>
          </p:cNvPr>
          <p:cNvSpPr>
            <a:spLocks noGrp="1"/>
          </p:cNvSpPr>
          <p:nvPr/>
        </p:nvSpPr>
        <p:spPr>
          <a:xfrm>
            <a:off x="6629400" y="4362450"/>
            <a:ext cx="43053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FocusParse exposes code/tool inspection as a bounded primitive inside a typed document QA state machine.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35412C-E025-4E45-8C4F-96A9EE7FE604}"/>
              </a:ext>
            </a:extLst>
          </p:cNvPr>
          <p:cNvSpPr>
            <a:spLocks noGrp="1"/>
          </p:cNvSpPr>
          <p:nvPr/>
        </p:nvSpPr>
        <p:spPr>
          <a:xfrm>
            <a:off x="704850" y="5086350"/>
            <a:ext cx="101917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4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63557BA-BEE6-4CD7-99A6-4852D1E322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64EAA9-167E-4934-BFE0-E1685564476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48E94-155F-4591-959A-FA1D3CABACC4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451AD-AC4A-41E2-BB8B-14924043F53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Architecture, not tool count, is the load-bearing variable.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A827BE-3F17-4EAD-810F-7509EF86CB88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Same reasoner. Same benchmark revision. Same protocol. The structured harness wins by organizing evidence before answering.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E68E5-A219-4A64-8903-78C7451D3673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FA1564-B0E5-4C2E-80C6-7AC0F5133B2E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dirty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5</a:t>
            </a:r>
            <a:r>
              <a:rPr lang="en-US" sz="3150" b="1" dirty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8</a:t>
            </a:r>
            <a:r>
              <a:rPr sz="3150" b="1" dirty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.0%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F9BCEF-5689-42FE-8CEC-EA3B5C546F08}"/>
              </a:ext>
            </a:extLst>
          </p:cNvPr>
          <p:cNvSpPr>
            <a:spLocks noGrp="1"/>
          </p:cNvSpPr>
          <p:nvPr/>
        </p:nvSpPr>
        <p:spPr>
          <a:xfrm>
            <a:off x="590550" y="28194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harness +2</a:t>
            </a:r>
            <a:r>
              <a:rPr lang="en-US" sz="975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/+4</a:t>
            </a:r>
            <a:r>
              <a:rPr sz="975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overall accuracy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A43C7C-8017-47B6-84FF-1F5B09465C98}"/>
              </a:ext>
            </a:extLst>
          </p:cNvPr>
          <p:cNvSpPr>
            <a:spLocks noGrp="1"/>
          </p:cNvSpPr>
          <p:nvPr/>
        </p:nvSpPr>
        <p:spPr>
          <a:xfrm>
            <a:off x="3143250" y="228600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$0.015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328BEA-DA09-47B3-A65A-270622A1B9A7}"/>
              </a:ext>
            </a:extLst>
          </p:cNvPr>
          <p:cNvSpPr>
            <a:spLocks noGrp="1"/>
          </p:cNvSpPr>
          <p:nvPr/>
        </p:nvSpPr>
        <p:spPr>
          <a:xfrm>
            <a:off x="3143250" y="28194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cost per correct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15312-31E7-4F50-9433-E3CE9E2E561B}"/>
              </a:ext>
            </a:extLst>
          </p:cNvPr>
          <p:cNvSpPr>
            <a:spLocks noGrp="1"/>
          </p:cNvSpPr>
          <p:nvPr/>
        </p:nvSpPr>
        <p:spPr>
          <a:xfrm>
            <a:off x="5695950" y="228600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2.5s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37F14F-CEDF-44F4-96A9-07E52735B16A}"/>
              </a:ext>
            </a:extLst>
          </p:cNvPr>
          <p:cNvSpPr>
            <a:spLocks noGrp="1"/>
          </p:cNvSpPr>
          <p:nvPr/>
        </p:nvSpPr>
        <p:spPr>
          <a:xfrm>
            <a:off x="5695950" y="28194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mean latency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E448B-8812-45A8-87F3-1B96DD3616D1}"/>
              </a:ext>
            </a:extLst>
          </p:cNvPr>
          <p:cNvSpPr>
            <a:spLocks noGrp="1"/>
          </p:cNvSpPr>
          <p:nvPr/>
        </p:nvSpPr>
        <p:spPr>
          <a:xfrm>
            <a:off x="8763000" y="2171700"/>
            <a:ext cx="2381250" cy="11811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C2804E-199A-405D-BA09-999765B18D1E}"/>
              </a:ext>
            </a:extLst>
          </p:cNvPr>
          <p:cNvSpPr>
            <a:spLocks noGrp="1"/>
          </p:cNvSpPr>
          <p:nvPr/>
        </p:nvSpPr>
        <p:spPr>
          <a:xfrm>
            <a:off x="8991600" y="2362200"/>
            <a:ext cx="1924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same reasoner</a:t>
            </a:r>
          </a:p>
          <a:p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same benchmark</a:t>
            </a:r>
          </a:p>
          <a:p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same protocol</a:t>
            </a:r>
          </a:p>
        </p:txBody>
      </p:sp>
    </p:spTree>
    <p:extLst>
      <p:ext uri="{BB962C8B-B14F-4D97-AF65-F5344CB8AC3E}">
        <p14:creationId xmlns:p14="http://schemas.microsoft.com/office/powerpoint/2010/main" val="1992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63C3BB8-F0C1-41EB-B9AC-20EBE40FBF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8E71A9-223B-4358-96EB-5F16ECFCE270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4D661D-86CE-44AE-BC79-20D11299E027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BD436B-0E39-408D-B469-59F1B08F100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experiment holds the obvious confounders constant.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50495F-3CB9-4498-B8C8-3E39EB4C5D29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705DD-79FC-45C3-AE69-187D4784D6AD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B200AC-54C0-453A-86FC-68E194586BAB}"/>
              </a:ext>
            </a:extLst>
          </p:cNvPr>
          <p:cNvSpPr>
            <a:spLocks noGrp="1"/>
          </p:cNvSpPr>
          <p:nvPr/>
        </p:nvSpPr>
        <p:spPr>
          <a:xfrm>
            <a:off x="1047750" y="213360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n=148 canonical validation rows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68B26-286B-4890-B679-D80B0119616B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1F59B9-9BD6-40C6-84C5-D37B891506C7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101 datasheets + 47 finance documents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422FA8-2F3B-4545-8B87-58BE78721BD3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F37768-C401-424F-A277-FAB834629B65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Reasoner: openai/gpt-5.4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30D456-86C4-4048-91AB-88589FD26C69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E9A7AD-2178-4490-9472-8BC8501690CF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Protocol: agentic_multi_page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87A296-C335-48E7-B565-5DE5FE9E2D66}"/>
              </a:ext>
            </a:extLst>
          </p:cNvPr>
          <p:cNvSpPr>
            <a:spLocks noGrp="1"/>
          </p:cNvSpPr>
          <p:nvPr/>
        </p:nvSpPr>
        <p:spPr>
          <a:xfrm>
            <a:off x="781050" y="44767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66D9D4-1648-4D52-874C-BBD1B3A7A53A}"/>
              </a:ext>
            </a:extLst>
          </p:cNvPr>
          <p:cNvSpPr>
            <a:spLocks noGrp="1"/>
          </p:cNvSpPr>
          <p:nvPr/>
        </p:nvSpPr>
        <p:spPr>
          <a:xfrm>
            <a:off x="1047750" y="434340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Benchmark: gabrielbo/parser-bench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5B7E81-E614-45FC-B1A7-D84DD1F5F9DF}"/>
              </a:ext>
            </a:extLst>
          </p:cNvPr>
          <p:cNvSpPr>
            <a:spLocks noGrp="1"/>
          </p:cNvSpPr>
          <p:nvPr/>
        </p:nvSpPr>
        <p:spPr>
          <a:xfrm>
            <a:off x="7829550" y="2247900"/>
            <a:ext cx="2952750" cy="16192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90F56D-224C-43AC-90DA-203EF11676DD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24193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Independent variable: agent architecture</a:t>
            </a:r>
          </a:p>
        </p:txBody>
      </p:sp>
    </p:spTree>
    <p:extLst>
      <p:ext uri="{BB962C8B-B14F-4D97-AF65-F5344CB8AC3E}">
        <p14:creationId xmlns:p14="http://schemas.microsoft.com/office/powerpoint/2010/main" val="4030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3688FBA-BECB-40B6-A7EC-3A4F3A6882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D58D26-A17A-4507-B7B4-978DA6E3F747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CHAPTER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E956E5-39C2-422B-AC81-6AFB36660142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479D3-F509-4582-AFE2-A4F5B968B6A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Parser-Bench data creation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C16E1E-BA7D-4EDE-AA9F-FCD160AF88B1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How the benchmark is curated, gated, and made reproducible.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F3158-DFFF-494C-9817-829E3C8CDF7E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2260C-1B1F-45C9-8379-5F39A41FC0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160863-D458-40FA-80A2-4AFC5E90FF4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CHAPTER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0F751-A3C8-416A-B4A4-F1F577C5A948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2476500" cy="190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CCB51-CD36-4D4B-8B49-8C63D7650BE8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8382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Parser-Bench data creation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319A18-A815-4BA2-9CC0-3C0DE5BB1816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How the benchmark is curated, gated, and made reproducible.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480361-A9C3-4E89-B889-4F9AA395082F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8571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026F394-2FC5-4489-8863-CF2D275889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D9628A-DB69-410C-BC1A-BDBEF13BFDA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 BASIS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3E63D-E1A6-46CE-A5A5-FB1CE577FE53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99223-83AF-4DA7-9471-76A49044260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Parser-Bench is built to test localization, reasoning, and citation together.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CA3202-4BB4-470F-BB21-05E6E846B79D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Each example requires a system to find evidence in a multi-page high-resolution PDF, reason over it, and cite supporting pages plus bounding boxes.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484ABE-665F-4A53-875A-C63B65762A95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A6227-3A57-429A-BB4F-C31A9292C614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2714625" cy="16002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024BBD-B4A5-4CEB-8261-BAAC88D7353F}"/>
              </a:ext>
            </a:extLst>
          </p:cNvPr>
          <p:cNvSpPr>
            <a:spLocks noGrp="1"/>
          </p:cNvSpPr>
          <p:nvPr/>
        </p:nvSpPr>
        <p:spPr>
          <a:xfrm>
            <a:off x="1009650" y="26479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Localize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1400C9-63C4-4C4A-B704-6FBC4CCFCA88}"/>
              </a:ext>
            </a:extLst>
          </p:cNvPr>
          <p:cNvSpPr>
            <a:spLocks noGrp="1"/>
          </p:cNvSpPr>
          <p:nvPr/>
        </p:nvSpPr>
        <p:spPr>
          <a:xfrm>
            <a:off x="1009650" y="31623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Find the right page and region in large technical or finance PDFs.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2CA75F-D5F3-44EE-9206-23D1DF53FC3E}"/>
              </a:ext>
            </a:extLst>
          </p:cNvPr>
          <p:cNvSpPr>
            <a:spLocks noGrp="1"/>
          </p:cNvSpPr>
          <p:nvPr/>
        </p:nvSpPr>
        <p:spPr>
          <a:xfrm>
            <a:off x="4257675" y="2362200"/>
            <a:ext cx="2714625" cy="16002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10E839-2671-4E35-8841-3E61DA610C1E}"/>
              </a:ext>
            </a:extLst>
          </p:cNvPr>
          <p:cNvSpPr>
            <a:spLocks noGrp="1"/>
          </p:cNvSpPr>
          <p:nvPr/>
        </p:nvSpPr>
        <p:spPr>
          <a:xfrm>
            <a:off x="4486275" y="26479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Reason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235E82-3E18-48C5-8558-5CFBB94C0F89}"/>
              </a:ext>
            </a:extLst>
          </p:cNvPr>
          <p:cNvSpPr>
            <a:spLocks noGrp="1"/>
          </p:cNvSpPr>
          <p:nvPr/>
        </p:nvSpPr>
        <p:spPr>
          <a:xfrm>
            <a:off x="4486275" y="31623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Answer from the localized visual/text evidence, often across regions.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B3D074-79C9-4FC0-A5F3-3F4A7C0B028A}"/>
              </a:ext>
            </a:extLst>
          </p:cNvPr>
          <p:cNvSpPr>
            <a:spLocks noGrp="1"/>
          </p:cNvSpPr>
          <p:nvPr/>
        </p:nvSpPr>
        <p:spPr>
          <a:xfrm>
            <a:off x="7734300" y="2362200"/>
            <a:ext cx="2714625" cy="16002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3AAD8C-9A28-4F0F-B947-D77A63D48C38}"/>
              </a:ext>
            </a:extLst>
          </p:cNvPr>
          <p:cNvSpPr>
            <a:spLocks noGrp="1"/>
          </p:cNvSpPr>
          <p:nvPr/>
        </p:nvSpPr>
        <p:spPr>
          <a:xfrm>
            <a:off x="7962900" y="26479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842ABB-7F91-4BB6-AE80-4924FFA1F1F4}"/>
              </a:ext>
            </a:extLst>
          </p:cNvPr>
          <p:cNvSpPr>
            <a:spLocks noGrp="1"/>
          </p:cNvSpPr>
          <p:nvPr/>
        </p:nvSpPr>
        <p:spPr>
          <a:xfrm>
            <a:off x="7962900" y="3162300"/>
            <a:ext cx="2190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Return page and bbox evidence, so correctness is auditable.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1FBE3E-C218-456B-8FBC-888B830279E8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8572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Two disjoint domains: finance PDFs (10-Ks, IMF, central-bank reports) and datasheets (semiconductor reference manuals, often &gt;1000 pages).</a:t>
            </a:r>
          </a:p>
        </p:txBody>
      </p:sp>
    </p:spTree>
    <p:extLst>
      <p:ext uri="{BB962C8B-B14F-4D97-AF65-F5344CB8AC3E}">
        <p14:creationId xmlns:p14="http://schemas.microsoft.com/office/powerpoint/2010/main" val="507550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693CC723-D1A0-4CD6-8584-222B6BEF7E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672E25-D7A7-4749-B766-C77EDD158B38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CURATION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668FC6-BE3F-4407-924E-FA5823ECE978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D506C-7177-49AE-8E10-4D0B5F2C832E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Raw public PDFs become canonical JSONL rows through a staged pipeline.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04993E-E4FF-4ED7-939A-FC34BF3F379A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pipeline is deterministic/configurable from configs/default.yaml, with fixed seeds at document sampling and split assignment.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3F531C-B2DD-4CAE-86D8-1BC7470616A1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C7F66-9E16-4876-ACC9-257553FE9E92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D65E3F-079D-4656-9EB6-C1A5E691F782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21526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F6EF7-BC8A-4AE9-93CE-F17CC42EE7A0}"/>
              </a:ext>
            </a:extLst>
          </p:cNvPr>
          <p:cNvSpPr>
            <a:spLocks noGrp="1"/>
          </p:cNvSpPr>
          <p:nvPr/>
        </p:nvSpPr>
        <p:spPr>
          <a:xfrm>
            <a:off x="838200" y="2295525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Acquire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CFD49-C005-4FAD-8B77-CF08B7204E2C}"/>
              </a:ext>
            </a:extLst>
          </p:cNvPr>
          <p:cNvSpPr>
            <a:spLocks noGrp="1"/>
          </p:cNvSpPr>
          <p:nvPr/>
        </p:nvSpPr>
        <p:spPr>
          <a:xfrm>
            <a:off x="838200" y="25527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public PDFs + source SHA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C7D68D-3758-422D-8F2F-39A4D2C82FDF}"/>
              </a:ext>
            </a:extLst>
          </p:cNvPr>
          <p:cNvSpPr>
            <a:spLocks noGrp="1"/>
          </p:cNvSpPr>
          <p:nvPr/>
        </p:nvSpPr>
        <p:spPr>
          <a:xfrm>
            <a:off x="2971800" y="25146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3B5C7-CED5-4925-868F-89B822AF5C6C}"/>
              </a:ext>
            </a:extLst>
          </p:cNvPr>
          <p:cNvSpPr>
            <a:spLocks noGrp="1"/>
          </p:cNvSpPr>
          <p:nvPr/>
        </p:nvSpPr>
        <p:spPr>
          <a:xfrm>
            <a:off x="3429000" y="19240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FA0BF-C067-4EC7-BEBA-79BF4FAB0345}"/>
              </a:ext>
            </a:extLst>
          </p:cNvPr>
          <p:cNvSpPr>
            <a:spLocks noGrp="1"/>
          </p:cNvSpPr>
          <p:nvPr/>
        </p:nvSpPr>
        <p:spPr>
          <a:xfrm>
            <a:off x="3429000" y="2171700"/>
            <a:ext cx="21526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3C2A63-BE76-496B-B0A9-EEA21AF49FE7}"/>
              </a:ext>
            </a:extLst>
          </p:cNvPr>
          <p:cNvSpPr>
            <a:spLocks noGrp="1"/>
          </p:cNvSpPr>
          <p:nvPr/>
        </p:nvSpPr>
        <p:spPr>
          <a:xfrm>
            <a:off x="3562350" y="2295525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F9D5C5-D94E-4DD8-902E-CE6B5A05EEED}"/>
              </a:ext>
            </a:extLst>
          </p:cNvPr>
          <p:cNvSpPr>
            <a:spLocks noGrp="1"/>
          </p:cNvSpPr>
          <p:nvPr/>
        </p:nvSpPr>
        <p:spPr>
          <a:xfrm>
            <a:off x="3562350" y="25527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300/150/72 DPI + text/OCR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A3D7E4-A005-4A74-B0F4-FDF253F387C5}"/>
              </a:ext>
            </a:extLst>
          </p:cNvPr>
          <p:cNvSpPr>
            <a:spLocks noGrp="1"/>
          </p:cNvSpPr>
          <p:nvPr/>
        </p:nvSpPr>
        <p:spPr>
          <a:xfrm>
            <a:off x="5695950" y="25146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4CAB2F-76B6-472B-B9B3-E345C0C2F958}"/>
              </a:ext>
            </a:extLst>
          </p:cNvPr>
          <p:cNvSpPr>
            <a:spLocks noGrp="1"/>
          </p:cNvSpPr>
          <p:nvPr/>
        </p:nvSpPr>
        <p:spPr>
          <a:xfrm>
            <a:off x="6153150" y="19240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CF75C7-C4A4-4D77-B1F4-6B197A2A3D37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1526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4461A8-09CC-45C5-BBF3-126A9A34EDC3}"/>
              </a:ext>
            </a:extLst>
          </p:cNvPr>
          <p:cNvSpPr>
            <a:spLocks noGrp="1"/>
          </p:cNvSpPr>
          <p:nvPr/>
        </p:nvSpPr>
        <p:spPr>
          <a:xfrm>
            <a:off x="6286500" y="2295525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538CF9-B7EE-4CCF-82BE-17E1BE4D34A7}"/>
              </a:ext>
            </a:extLst>
          </p:cNvPr>
          <p:cNvSpPr>
            <a:spLocks noGrp="1"/>
          </p:cNvSpPr>
          <p:nvPr/>
        </p:nvSpPr>
        <p:spPr>
          <a:xfrm>
            <a:off x="6286500" y="25527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layout regions + crops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C6F716-78D9-4518-9FA6-9988A42B79B8}"/>
              </a:ext>
            </a:extLst>
          </p:cNvPr>
          <p:cNvSpPr>
            <a:spLocks noGrp="1"/>
          </p:cNvSpPr>
          <p:nvPr/>
        </p:nvSpPr>
        <p:spPr>
          <a:xfrm>
            <a:off x="8420100" y="25146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BD9722-D2F8-4B08-B6D9-3240DBE35479}"/>
              </a:ext>
            </a:extLst>
          </p:cNvPr>
          <p:cNvSpPr>
            <a:spLocks noGrp="1"/>
          </p:cNvSpPr>
          <p:nvPr/>
        </p:nvSpPr>
        <p:spPr>
          <a:xfrm>
            <a:off x="8877300" y="19240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2F0AD4-C3B7-4F37-AD96-4906BF8F403F}"/>
              </a:ext>
            </a:extLst>
          </p:cNvPr>
          <p:cNvSpPr>
            <a:spLocks noGrp="1"/>
          </p:cNvSpPr>
          <p:nvPr/>
        </p:nvSpPr>
        <p:spPr>
          <a:xfrm>
            <a:off x="8877300" y="2171700"/>
            <a:ext cx="21526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976B93-14B7-4942-BB60-E7015CBFF694}"/>
              </a:ext>
            </a:extLst>
          </p:cNvPr>
          <p:cNvSpPr>
            <a:spLocks noGrp="1"/>
          </p:cNvSpPr>
          <p:nvPr/>
        </p:nvSpPr>
        <p:spPr>
          <a:xfrm>
            <a:off x="9010650" y="2295525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5D61E9-986F-4C11-8FC0-2E9AE6E11CC8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spatial, continuation, distant links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C15B6D-0045-47DF-B832-857ED7B5F220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91D191-3E3A-4A68-BD93-47406A408B4D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2152650" cy="6858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4721AF-3C3A-4DFB-9EA8-C2F4A7039F82}"/>
              </a:ext>
            </a:extLst>
          </p:cNvPr>
          <p:cNvSpPr>
            <a:spLocks noGrp="1"/>
          </p:cNvSpPr>
          <p:nvPr/>
        </p:nvSpPr>
        <p:spPr>
          <a:xfrm>
            <a:off x="838200" y="3514725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Synthesize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0154A-C12B-47CE-8980-A57E9401EDE3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teacher + verifier QA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FCEA2B-3D9B-4202-AAF4-F0871A490CA1}"/>
              </a:ext>
            </a:extLst>
          </p:cNvPr>
          <p:cNvSpPr>
            <a:spLocks noGrp="1"/>
          </p:cNvSpPr>
          <p:nvPr/>
        </p:nvSpPr>
        <p:spPr>
          <a:xfrm>
            <a:off x="2971800" y="37338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268FE6-A224-44F9-BAF2-91F71D240F1C}"/>
              </a:ext>
            </a:extLst>
          </p:cNvPr>
          <p:cNvSpPr>
            <a:spLocks noGrp="1"/>
          </p:cNvSpPr>
          <p:nvPr/>
        </p:nvSpPr>
        <p:spPr>
          <a:xfrm>
            <a:off x="3429000" y="31432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948A0B-7E64-46AE-9826-4D4C80374945}"/>
              </a:ext>
            </a:extLst>
          </p:cNvPr>
          <p:cNvSpPr>
            <a:spLocks noGrp="1"/>
          </p:cNvSpPr>
          <p:nvPr/>
        </p:nvSpPr>
        <p:spPr>
          <a:xfrm>
            <a:off x="3429000" y="3390900"/>
            <a:ext cx="21526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9A00C7-44F1-4884-8906-37595674C51F}"/>
              </a:ext>
            </a:extLst>
          </p:cNvPr>
          <p:cNvSpPr>
            <a:spLocks noGrp="1"/>
          </p:cNvSpPr>
          <p:nvPr/>
        </p:nvSpPr>
        <p:spPr>
          <a:xfrm>
            <a:off x="3562350" y="3514725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64AFBD-391F-4511-8053-8F895D6526BF}"/>
              </a:ext>
            </a:extLst>
          </p:cNvPr>
          <p:cNvSpPr>
            <a:spLocks noGrp="1"/>
          </p:cNvSpPr>
          <p:nvPr/>
        </p:nvSpPr>
        <p:spPr>
          <a:xfrm>
            <a:off x="3562350" y="37719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dedup + adversarial judges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0FCC35-A52D-4319-AE17-192371F8FB57}"/>
              </a:ext>
            </a:extLst>
          </p:cNvPr>
          <p:cNvSpPr>
            <a:spLocks noGrp="1"/>
          </p:cNvSpPr>
          <p:nvPr/>
        </p:nvSpPr>
        <p:spPr>
          <a:xfrm>
            <a:off x="5695950" y="37338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EAC5E2-E4BD-481B-86C1-A47FB9374045}"/>
              </a:ext>
            </a:extLst>
          </p:cNvPr>
          <p:cNvSpPr>
            <a:spLocks noGrp="1"/>
          </p:cNvSpPr>
          <p:nvPr/>
        </p:nvSpPr>
        <p:spPr>
          <a:xfrm>
            <a:off x="6153150" y="31432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B44541-DB93-4BA7-A229-428537F59285}"/>
              </a:ext>
            </a:extLst>
          </p:cNvPr>
          <p:cNvSpPr>
            <a:spLocks noGrp="1"/>
          </p:cNvSpPr>
          <p:nvPr/>
        </p:nvSpPr>
        <p:spPr>
          <a:xfrm>
            <a:off x="6153150" y="3390900"/>
            <a:ext cx="21526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A9C0800-A699-4633-A007-50FC588C8D88}"/>
              </a:ext>
            </a:extLst>
          </p:cNvPr>
          <p:cNvSpPr>
            <a:spLocks noGrp="1"/>
          </p:cNvSpPr>
          <p:nvPr/>
        </p:nvSpPr>
        <p:spPr>
          <a:xfrm>
            <a:off x="6286500" y="3514725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Stress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B55F60-3AAA-4A3A-AAB7-2B2A14DB7584}"/>
              </a:ext>
            </a:extLst>
          </p:cNvPr>
          <p:cNvSpPr>
            <a:spLocks noGrp="1"/>
          </p:cNvSpPr>
          <p:nvPr/>
        </p:nvSpPr>
        <p:spPr>
          <a:xfrm>
            <a:off x="6286500" y="37719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downscale + separation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7DA4E3-038B-4E24-8466-4E4AF228831C}"/>
              </a:ext>
            </a:extLst>
          </p:cNvPr>
          <p:cNvSpPr>
            <a:spLocks noGrp="1"/>
          </p:cNvSpPr>
          <p:nvPr/>
        </p:nvSpPr>
        <p:spPr>
          <a:xfrm>
            <a:off x="8420100" y="37338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EE34099-EF14-4E24-B2DD-2BAC272FF830}"/>
              </a:ext>
            </a:extLst>
          </p:cNvPr>
          <p:cNvSpPr>
            <a:spLocks noGrp="1"/>
          </p:cNvSpPr>
          <p:nvPr/>
        </p:nvSpPr>
        <p:spPr>
          <a:xfrm>
            <a:off x="8877300" y="314325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A60E80-E415-4843-AD8D-6A3A4E7DF863}"/>
              </a:ext>
            </a:extLst>
          </p:cNvPr>
          <p:cNvSpPr>
            <a:spLocks noGrp="1"/>
          </p:cNvSpPr>
          <p:nvPr/>
        </p:nvSpPr>
        <p:spPr>
          <a:xfrm>
            <a:off x="8877300" y="3390900"/>
            <a:ext cx="2152650" cy="685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FFB3FD-2841-405B-9EC8-B2AFA67844D6}"/>
              </a:ext>
            </a:extLst>
          </p:cNvPr>
          <p:cNvSpPr>
            <a:spLocks noGrp="1"/>
          </p:cNvSpPr>
          <p:nvPr/>
        </p:nvSpPr>
        <p:spPr>
          <a:xfrm>
            <a:off x="9010650" y="3514725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175BE9-6408-4978-ADA7-55D76D8F808E}"/>
              </a:ext>
            </a:extLst>
          </p:cNvPr>
          <p:cNvSpPr>
            <a:spLocks noGrp="1"/>
          </p:cNvSpPr>
          <p:nvPr/>
        </p:nvSpPr>
        <p:spPr>
          <a:xfrm>
            <a:off x="9010650" y="3771900"/>
            <a:ext cx="1885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document-level splits + HF</a:t>
            </a:r>
          </a:p>
        </p:txBody>
      </p:sp>
    </p:spTree>
    <p:extLst>
      <p:ext uri="{BB962C8B-B14F-4D97-AF65-F5344CB8AC3E}">
        <p14:creationId xmlns:p14="http://schemas.microsoft.com/office/powerpoint/2010/main" val="1406754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AE515A0-4597-48DA-8EEC-75BBDFEEE4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5F8B2-9BFF-4CC9-A664-D947157A702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EVIDENCE GRAPH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0C029-3407-4A99-B00D-3FFC3B715393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5B08A0-E611-444E-8951-76BFDFF8DCD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Questions are multi-region by construction, not by accident.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8E8027-DAB2-4827-9526-075840C93E59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Detected regions become a document graph. Connected subgraphs seed question families, with visually rich charts/tables/diagrams preferred.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1503E-4BA7-40B7-BEDF-D306A1F8F4F7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FFB6BD-B48B-4C37-BFE9-996CDA942A5F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2038350" cy="1066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54BEFE-000C-4DA3-8ED3-DDD55E947BCD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regions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D0EF89-9FB3-432E-83C8-E198A0A2ED05}"/>
              </a:ext>
            </a:extLst>
          </p:cNvPr>
          <p:cNvSpPr>
            <a:spLocks noGrp="1"/>
          </p:cNvSpPr>
          <p:nvPr/>
        </p:nvSpPr>
        <p:spPr>
          <a:xfrm>
            <a:off x="1009650" y="3105150"/>
            <a:ext cx="1695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charts, tables, diagrams, captions, footnotes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3764EC-2A68-4561-AA6A-9236068478CB}"/>
              </a:ext>
            </a:extLst>
          </p:cNvPr>
          <p:cNvSpPr>
            <a:spLocks noGrp="1"/>
          </p:cNvSpPr>
          <p:nvPr/>
        </p:nvSpPr>
        <p:spPr>
          <a:xfrm>
            <a:off x="2990850" y="3019425"/>
            <a:ext cx="3238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45595E-63A4-4839-BB85-A01A1D44509C}"/>
              </a:ext>
            </a:extLst>
          </p:cNvPr>
          <p:cNvSpPr>
            <a:spLocks noGrp="1"/>
          </p:cNvSpPr>
          <p:nvPr/>
        </p:nvSpPr>
        <p:spPr>
          <a:xfrm>
            <a:off x="3486150" y="2495550"/>
            <a:ext cx="2038350" cy="1066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4F3811-86F3-4679-A44E-282971A978EC}"/>
              </a:ext>
            </a:extLst>
          </p:cNvPr>
          <p:cNvSpPr>
            <a:spLocks noGrp="1"/>
          </p:cNvSpPr>
          <p:nvPr/>
        </p:nvSpPr>
        <p:spPr>
          <a:xfrm>
            <a:off x="3657600" y="27432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relations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7A2756-6233-4924-8107-1B6DE57F6985}"/>
              </a:ext>
            </a:extLst>
          </p:cNvPr>
          <p:cNvSpPr>
            <a:spLocks noGrp="1"/>
          </p:cNvSpPr>
          <p:nvPr/>
        </p:nvSpPr>
        <p:spPr>
          <a:xfrm>
            <a:off x="3657600" y="3105150"/>
            <a:ext cx="1695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adjacency, containment, continuation, distant reference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9BE812-97C8-4D9E-9658-B731D5FFF4B9}"/>
              </a:ext>
            </a:extLst>
          </p:cNvPr>
          <p:cNvSpPr>
            <a:spLocks noGrp="1"/>
          </p:cNvSpPr>
          <p:nvPr/>
        </p:nvSpPr>
        <p:spPr>
          <a:xfrm>
            <a:off x="5638800" y="3019425"/>
            <a:ext cx="3238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8F918B-1ADF-421D-893D-8975E2CECE37}"/>
              </a:ext>
            </a:extLst>
          </p:cNvPr>
          <p:cNvSpPr>
            <a:spLocks noGrp="1"/>
          </p:cNvSpPr>
          <p:nvPr/>
        </p:nvSpPr>
        <p:spPr>
          <a:xfrm>
            <a:off x="6134100" y="2495550"/>
            <a:ext cx="2038350" cy="106680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2ABC9C-BDD4-42F3-80B5-063AA3431A6F}"/>
              </a:ext>
            </a:extLst>
          </p:cNvPr>
          <p:cNvSpPr>
            <a:spLocks noGrp="1"/>
          </p:cNvSpPr>
          <p:nvPr/>
        </p:nvSpPr>
        <p:spPr>
          <a:xfrm>
            <a:off x="6305550" y="27432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subgraphs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232538-B322-4E40-9CFA-965A373EE64B}"/>
              </a:ext>
            </a:extLst>
          </p:cNvPr>
          <p:cNvSpPr>
            <a:spLocks noGrp="1"/>
          </p:cNvSpPr>
          <p:nvPr/>
        </p:nvSpPr>
        <p:spPr>
          <a:xfrm>
            <a:off x="6305550" y="3105150"/>
            <a:ext cx="1695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easy / medium / hard seeds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838782-2D5B-4593-A19C-735749486F1E}"/>
              </a:ext>
            </a:extLst>
          </p:cNvPr>
          <p:cNvSpPr>
            <a:spLocks noGrp="1"/>
          </p:cNvSpPr>
          <p:nvPr/>
        </p:nvSpPr>
        <p:spPr>
          <a:xfrm>
            <a:off x="8286750" y="3019425"/>
            <a:ext cx="3238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5248E5-89FB-4892-8E8E-848EC801994E}"/>
              </a:ext>
            </a:extLst>
          </p:cNvPr>
          <p:cNvSpPr>
            <a:spLocks noGrp="1"/>
          </p:cNvSpPr>
          <p:nvPr/>
        </p:nvSpPr>
        <p:spPr>
          <a:xfrm>
            <a:off x="8782050" y="2495550"/>
            <a:ext cx="2038350" cy="10668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C28F2B-1D6F-4DEF-AB29-CFB85FB3544E}"/>
              </a:ext>
            </a:extLst>
          </p:cNvPr>
          <p:cNvSpPr>
            <a:spLocks noGrp="1"/>
          </p:cNvSpPr>
          <p:nvPr/>
        </p:nvSpPr>
        <p:spPr>
          <a:xfrm>
            <a:off x="8953500" y="2743200"/>
            <a:ext cx="169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families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0C2991-F182-48A7-8EE2-35669A9C3273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1695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10 finance + 10 datasheet families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8F92D4-CE43-4C78-9C41-5A99A5AFC30E}"/>
              </a:ext>
            </a:extLst>
          </p:cNvPr>
          <p:cNvSpPr>
            <a:spLocks noGrp="1"/>
          </p:cNvSpPr>
          <p:nvPr/>
        </p:nvSpPr>
        <p:spPr>
          <a:xfrm>
            <a:off x="1104900" y="42291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Difficulty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624D41-D6F2-4D32-8E07-6D818456199F}"/>
              </a:ext>
            </a:extLst>
          </p:cNvPr>
          <p:cNvSpPr>
            <a:spLocks noGrp="1"/>
          </p:cNvSpPr>
          <p:nvPr/>
        </p:nvSpPr>
        <p:spPr>
          <a:xfrm>
            <a:off x="2914650" y="42291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Construction rule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7B6977-0C8B-4578-BDBB-EBC24ACCEE8F}"/>
              </a:ext>
            </a:extLst>
          </p:cNvPr>
          <p:cNvSpPr>
            <a:spLocks noGrp="1"/>
          </p:cNvSpPr>
          <p:nvPr/>
        </p:nvSpPr>
        <p:spPr>
          <a:xfrm>
            <a:off x="1104900" y="4476750"/>
            <a:ext cx="7715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9CCB50-DB47-4F03-B266-362CE4D161D6}"/>
              </a:ext>
            </a:extLst>
          </p:cNvPr>
          <p:cNvSpPr>
            <a:spLocks noGrp="1"/>
          </p:cNvSpPr>
          <p:nvPr/>
        </p:nvSpPr>
        <p:spPr>
          <a:xfrm>
            <a:off x="1104900" y="46101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Easy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FC092E-95DA-4FA8-A6B5-43CB6413B639}"/>
              </a:ext>
            </a:extLst>
          </p:cNvPr>
          <p:cNvSpPr>
            <a:spLocks noGrp="1"/>
          </p:cNvSpPr>
          <p:nvPr/>
        </p:nvSpPr>
        <p:spPr>
          <a:xfrm>
            <a:off x="2914650" y="46101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single visually-rich region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687C60-1934-4FC4-AD1B-7423A4950F3A}"/>
              </a:ext>
            </a:extLst>
          </p:cNvPr>
          <p:cNvSpPr>
            <a:spLocks noGrp="1"/>
          </p:cNvSpPr>
          <p:nvPr/>
        </p:nvSpPr>
        <p:spPr>
          <a:xfrm>
            <a:off x="1104900" y="4857750"/>
            <a:ext cx="7715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CE714A-D888-4285-823B-E39244AD9D9C}"/>
              </a:ext>
            </a:extLst>
          </p:cNvPr>
          <p:cNvSpPr>
            <a:spLocks noGrp="1"/>
          </p:cNvSpPr>
          <p:nvPr/>
        </p:nvSpPr>
        <p:spPr>
          <a:xfrm>
            <a:off x="1104900" y="49720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DBC0BF-90F5-4D9A-AD0C-D57B27D01648}"/>
              </a:ext>
            </a:extLst>
          </p:cNvPr>
          <p:cNvSpPr>
            <a:spLocks noGrp="1"/>
          </p:cNvSpPr>
          <p:nvPr/>
        </p:nvSpPr>
        <p:spPr>
          <a:xfrm>
            <a:off x="2914650" y="497205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2+ type-diverse regions, e.g. chart + legend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D589C9-A9E7-4610-9AF5-C70B23FBE997}"/>
              </a:ext>
            </a:extLst>
          </p:cNvPr>
          <p:cNvSpPr>
            <a:spLocks noGrp="1"/>
          </p:cNvSpPr>
          <p:nvPr/>
        </p:nvSpPr>
        <p:spPr>
          <a:xfrm>
            <a:off x="1104900" y="5219700"/>
            <a:ext cx="7715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B5B9F0-088B-403C-B498-1B9BFBFA6417}"/>
              </a:ext>
            </a:extLst>
          </p:cNvPr>
          <p:cNvSpPr>
            <a:spLocks noGrp="1"/>
          </p:cNvSpPr>
          <p:nvPr/>
        </p:nvSpPr>
        <p:spPr>
          <a:xfrm>
            <a:off x="1104900" y="53340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D64103-6389-48C9-8522-133BCCB77BE6}"/>
              </a:ext>
            </a:extLst>
          </p:cNvPr>
          <p:cNvSpPr>
            <a:spLocks noGrp="1"/>
          </p:cNvSpPr>
          <p:nvPr/>
        </p:nvSpPr>
        <p:spPr>
          <a:xfrm>
            <a:off x="2914650" y="53340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 to 5 regions, cross-page or distant links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8CEB275-5E28-4519-BAD4-E55FF6590EB9}"/>
              </a:ext>
            </a:extLst>
          </p:cNvPr>
          <p:cNvSpPr>
            <a:spLocks noGrp="1"/>
          </p:cNvSpPr>
          <p:nvPr/>
        </p:nvSpPr>
        <p:spPr>
          <a:xfrm>
            <a:off x="1104900" y="5581650"/>
            <a:ext cx="7715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6A81C0-65D9-431A-8B56-F7737A44BA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CEA19-D97B-4B2A-9AB2-C40BB1A0866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QA SYNTHESIS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69134C-5913-40FF-9ACC-73790483FBBE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F24F61-AA8D-4835-9767-A7AE53B2FBE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Teacher-verifier agreement plus filters keeps rows answerable and visual.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741D26-203E-4CDF-B718-3A350ABEC71D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 deterministic teacher writes the QA pair; an independent verifier answers only from cited crops. Then quality, dedup, text-only, OCR-only, and no-citation filters audit the candidate.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F0B22-C997-4279-9FDC-B48ABDFFCB0F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578F99-EA98-4858-9951-E96BA24135B5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1200150" cy="4000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D8A152-F550-467D-A65D-B093366EE222}"/>
              </a:ext>
            </a:extLst>
          </p:cNvPr>
          <p:cNvSpPr>
            <a:spLocks noGrp="1"/>
          </p:cNvSpPr>
          <p:nvPr/>
        </p:nvSpPr>
        <p:spPr>
          <a:xfrm>
            <a:off x="952500" y="2286000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1F9C2-B467-4C98-B340-D8143D0B1ACC}"/>
              </a:ext>
            </a:extLst>
          </p:cNvPr>
          <p:cNvSpPr>
            <a:spLocks noGrp="1"/>
          </p:cNvSpPr>
          <p:nvPr/>
        </p:nvSpPr>
        <p:spPr>
          <a:xfrm>
            <a:off x="2343150" y="2228850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gpt-4.1, T=0 emits question, answer, unit/tolerance, reasoning, citations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C3500A-0EED-4205-AE65-8E49BEBEF2CA}"/>
              </a:ext>
            </a:extLst>
          </p:cNvPr>
          <p:cNvSpPr>
            <a:spLocks noGrp="1"/>
          </p:cNvSpPr>
          <p:nvPr/>
        </p:nvSpPr>
        <p:spPr>
          <a:xfrm>
            <a:off x="1409700" y="2647950"/>
            <a:ext cx="19050" cy="2286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C919A-FB03-4750-829A-DE8B30E0BA40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1200150" cy="4000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967947-E149-46AD-9D3F-D6E4C1E688CC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Verifier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AD187-64C8-4B09-9C02-3284BF364E68}"/>
              </a:ext>
            </a:extLst>
          </p:cNvPr>
          <p:cNvSpPr>
            <a:spLocks noGrp="1"/>
          </p:cNvSpPr>
          <p:nvPr/>
        </p:nvSpPr>
        <p:spPr>
          <a:xfrm>
            <a:off x="2343150" y="2952750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independently answers from cited crops; accepts only agreement + complexity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2E5FE2-7154-42F5-933E-3EEC0F4CC3CD}"/>
              </a:ext>
            </a:extLst>
          </p:cNvPr>
          <p:cNvSpPr>
            <a:spLocks noGrp="1"/>
          </p:cNvSpPr>
          <p:nvPr/>
        </p:nvSpPr>
        <p:spPr>
          <a:xfrm>
            <a:off x="1409700" y="3371850"/>
            <a:ext cx="19050" cy="2286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6AA0EC-C07C-4FBF-8F30-1E51B41D493F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1200150" cy="4000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288057-07FA-4EE8-AFCD-D3816AAD8FE8}"/>
              </a:ext>
            </a:extLst>
          </p:cNvPr>
          <p:cNvSpPr>
            <a:spLocks noGrp="1"/>
          </p:cNvSpPr>
          <p:nvPr/>
        </p:nvSpPr>
        <p:spPr>
          <a:xfrm>
            <a:off x="952500" y="3733800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33FD63-ADA7-4833-A983-CFC4E2BD0059}"/>
              </a:ext>
            </a:extLst>
          </p:cNvPr>
          <p:cNvSpPr>
            <a:spLocks noGrp="1"/>
          </p:cNvSpPr>
          <p:nvPr/>
        </p:nvSpPr>
        <p:spPr>
          <a:xfrm>
            <a:off x="2343150" y="3676650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rejects collapsed multi-region questions and trivial reasoning chains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33C3A8-F450-46B8-AFCA-A040A29B3CE4}"/>
              </a:ext>
            </a:extLst>
          </p:cNvPr>
          <p:cNvSpPr>
            <a:spLocks noGrp="1"/>
          </p:cNvSpPr>
          <p:nvPr/>
        </p:nvSpPr>
        <p:spPr>
          <a:xfrm>
            <a:off x="1409700" y="4095750"/>
            <a:ext cx="19050" cy="2286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86DF7B-EEFB-4861-8A0F-1A18A8FE71B7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1200150" cy="4000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E8D20D-C115-46FB-AD46-10DCB2B9764C}"/>
              </a:ext>
            </a:extLst>
          </p:cNvPr>
          <p:cNvSpPr>
            <a:spLocks noGrp="1"/>
          </p:cNvSpPr>
          <p:nvPr/>
        </p:nvSpPr>
        <p:spPr>
          <a:xfrm>
            <a:off x="952500" y="4457700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B4C7C8-262D-4FED-B7FF-9175A8A68D9F}"/>
              </a:ext>
            </a:extLst>
          </p:cNvPr>
          <p:cNvSpPr>
            <a:spLocks noGrp="1"/>
          </p:cNvSpPr>
          <p:nvPr/>
        </p:nvSpPr>
        <p:spPr>
          <a:xfrm>
            <a:off x="2343150" y="4400550"/>
            <a:ext cx="752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dedup, structural checks, question-only / OCR-only / no-citation judges</a:t>
            </a:r>
          </a:p>
        </p:txBody>
      </p:sp>
    </p:spTree>
    <p:extLst>
      <p:ext uri="{BB962C8B-B14F-4D97-AF65-F5344CB8AC3E}">
        <p14:creationId xmlns:p14="http://schemas.microsoft.com/office/powerpoint/2010/main" val="1408043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3CCE5B3-FA8E-4C17-AF3C-5EAECE7E10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8F290E-1E71-4FAE-8165-B6CD28312CE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2AE7BF-40C5-4185-9993-2241F60CA048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D195B-1AC9-4758-97D3-15F1F11F0AA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dataset recipe records the knobs that make the benchmark rerunnable.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896C4D-C2AC-4771-9AED-4372AB00AE71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210231-A56D-40BE-A227-C54289F1DCEE}"/>
              </a:ext>
            </a:extLst>
          </p:cNvPr>
          <p:cNvSpPr>
            <a:spLocks noGrp="1"/>
          </p:cNvSpPr>
          <p:nvPr/>
        </p:nvSpPr>
        <p:spPr>
          <a:xfrm>
            <a:off x="838200" y="22193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D742A2-45DA-47D3-80CC-23059AE1ACED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 PDFs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280EB-7768-404D-844D-CFBDD8159ACA}"/>
              </a:ext>
            </a:extLst>
          </p:cNvPr>
          <p:cNvSpPr>
            <a:spLocks noGrp="1"/>
          </p:cNvSpPr>
          <p:nvPr/>
        </p:nvSpPr>
        <p:spPr>
          <a:xfrm>
            <a:off x="2743200" y="21336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URLs, source metadata, SHA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83A17-8362-42C1-AEFC-C5793140CCA1}"/>
              </a:ext>
            </a:extLst>
          </p:cNvPr>
          <p:cNvSpPr>
            <a:spLocks noGrp="1"/>
          </p:cNvSpPr>
          <p:nvPr/>
        </p:nvSpPr>
        <p:spPr>
          <a:xfrm>
            <a:off x="838200" y="28860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DEB05B-8FCA-4673-AF11-EA08F4FCF8DC}"/>
              </a:ext>
            </a:extLst>
          </p:cNvPr>
          <p:cNvSpPr>
            <a:spLocks noGrp="1"/>
          </p:cNvSpPr>
          <p:nvPr/>
        </p:nvSpPr>
        <p:spPr>
          <a:xfrm>
            <a:off x="1066800" y="28003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Rendering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1D1C1A-A2A6-4543-BF4F-9BED300DD85F}"/>
              </a:ext>
            </a:extLst>
          </p:cNvPr>
          <p:cNvSpPr>
            <a:spLocks noGrp="1"/>
          </p:cNvSpPr>
          <p:nvPr/>
        </p:nvSpPr>
        <p:spPr>
          <a:xfrm>
            <a:off x="2743200" y="280035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PyMuPDF DPIs: 300 / 150 / 72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A691D4-0151-4CDC-8BC1-FC70D9EA4F5E}"/>
              </a:ext>
            </a:extLst>
          </p:cNvPr>
          <p:cNvSpPr>
            <a:spLocks noGrp="1"/>
          </p:cNvSpPr>
          <p:nvPr/>
        </p:nvSpPr>
        <p:spPr>
          <a:xfrm>
            <a:off x="838200" y="355282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D0C266-A9EC-471B-9723-EC539386F34F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Long docs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C2F2C1-BB4C-4FFF-BD7A-6DCAE5EBD5FA}"/>
              </a:ext>
            </a:extLst>
          </p:cNvPr>
          <p:cNvSpPr>
            <a:spLocks noGrp="1"/>
          </p:cNvSpPr>
          <p:nvPr/>
        </p:nvSpPr>
        <p:spPr>
          <a:xfrm>
            <a:off x="2743200" y="34671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hash(doc_id) seed; &gt;200 pages -&gt; 100-page window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EF641D-0EE9-4608-AF47-2920F1C5E9D8}"/>
              </a:ext>
            </a:extLst>
          </p:cNvPr>
          <p:cNvSpPr>
            <a:spLocks noGrp="1"/>
          </p:cNvSpPr>
          <p:nvPr/>
        </p:nvSpPr>
        <p:spPr>
          <a:xfrm>
            <a:off x="838200" y="4219575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2E8990-2EC4-4AB4-9473-9D111D8865A0}"/>
              </a:ext>
            </a:extLst>
          </p:cNvPr>
          <p:cNvSpPr>
            <a:spLocks noGrp="1"/>
          </p:cNvSpPr>
          <p:nvPr/>
        </p:nvSpPr>
        <p:spPr>
          <a:xfrm>
            <a:off x="1066800" y="41338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Layout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4D281D-1ADB-4666-B40A-93685D34A02B}"/>
              </a:ext>
            </a:extLst>
          </p:cNvPr>
          <p:cNvSpPr>
            <a:spLocks noGrp="1"/>
          </p:cNvSpPr>
          <p:nvPr/>
        </p:nvSpPr>
        <p:spPr>
          <a:xfrm>
            <a:off x="2743200" y="413385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pinned HF endpoint; confidence 0.5; fallback logged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474920-9D8C-4C61-A47B-C16328C4252D}"/>
              </a:ext>
            </a:extLst>
          </p:cNvPr>
          <p:cNvSpPr>
            <a:spLocks noGrp="1"/>
          </p:cNvSpPr>
          <p:nvPr/>
        </p:nvSpPr>
        <p:spPr>
          <a:xfrm>
            <a:off x="6191250" y="2219325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D34E35-AEC6-4FE6-9020-4E4D511735A6}"/>
              </a:ext>
            </a:extLst>
          </p:cNvPr>
          <p:cNvSpPr>
            <a:spLocks noGrp="1"/>
          </p:cNvSpPr>
          <p:nvPr/>
        </p:nvSpPr>
        <p:spPr>
          <a:xfrm>
            <a:off x="6419850" y="21336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LLMs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B940BB-944E-406A-80F3-FAFB199A959B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teacher/verifier/judges at T=0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599307-122D-40C1-A411-0ED3E80BE8E0}"/>
              </a:ext>
            </a:extLst>
          </p:cNvPr>
          <p:cNvSpPr>
            <a:spLocks noGrp="1"/>
          </p:cNvSpPr>
          <p:nvPr/>
        </p:nvSpPr>
        <p:spPr>
          <a:xfrm>
            <a:off x="6191250" y="2886075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B7E140-0A7F-4A91-9F24-477F992799E2}"/>
              </a:ext>
            </a:extLst>
          </p:cNvPr>
          <p:cNvSpPr>
            <a:spLocks noGrp="1"/>
          </p:cNvSpPr>
          <p:nvPr/>
        </p:nvSpPr>
        <p:spPr>
          <a:xfrm>
            <a:off x="6419850" y="28003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Dedup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8FD5D9-6F0A-4A6A-9277-B51F5572DEB9}"/>
              </a:ext>
            </a:extLst>
          </p:cNvPr>
          <p:cNvSpPr>
            <a:spLocks noGrp="1"/>
          </p:cNvSpPr>
          <p:nvPr/>
        </p:nvSpPr>
        <p:spPr>
          <a:xfrm>
            <a:off x="8096250" y="280035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Jaccard 0.60, IoU 0.50, cosine 0.92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A34569-1039-4350-BEAB-A42303DE9D19}"/>
              </a:ext>
            </a:extLst>
          </p:cNvPr>
          <p:cNvSpPr>
            <a:spLocks noGrp="1"/>
          </p:cNvSpPr>
          <p:nvPr/>
        </p:nvSpPr>
        <p:spPr>
          <a:xfrm>
            <a:off x="6191250" y="3552825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1B925B-2571-4A45-BD20-3AD636FC05EB}"/>
              </a:ext>
            </a:extLst>
          </p:cNvPr>
          <p:cNvSpPr>
            <a:spLocks noGrp="1"/>
          </p:cNvSpPr>
          <p:nvPr/>
        </p:nvSpPr>
        <p:spPr>
          <a:xfrm>
            <a:off x="6419850" y="34671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Splits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9D9C46-5995-4D58-B1F4-9991506EE178}"/>
              </a:ext>
            </a:extLst>
          </p:cNvPr>
          <p:cNvSpPr>
            <a:spLocks noGrp="1"/>
          </p:cNvSpPr>
          <p:nvPr/>
        </p:nvSpPr>
        <p:spPr>
          <a:xfrm>
            <a:off x="8096250" y="34671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document-level partition, seed=42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7B4766-4414-4F1A-A850-8D368D1E32CD}"/>
              </a:ext>
            </a:extLst>
          </p:cNvPr>
          <p:cNvSpPr>
            <a:spLocks noGrp="1"/>
          </p:cNvSpPr>
          <p:nvPr/>
        </p:nvSpPr>
        <p:spPr>
          <a:xfrm>
            <a:off x="6191250" y="4219575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7335C0-92C7-4142-95BA-3784416E3140}"/>
              </a:ext>
            </a:extLst>
          </p:cNvPr>
          <p:cNvSpPr>
            <a:spLocks noGrp="1"/>
          </p:cNvSpPr>
          <p:nvPr/>
        </p:nvSpPr>
        <p:spPr>
          <a:xfrm>
            <a:off x="6419850" y="41338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Holdout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C4A39D-6BF7-4ACF-95BF-01A50B3BA97D}"/>
              </a:ext>
            </a:extLst>
          </p:cNvPr>
          <p:cNvSpPr>
            <a:spLocks noGrp="1"/>
          </p:cNvSpPr>
          <p:nvPr/>
        </p:nvSpPr>
        <p:spPr>
          <a:xfrm>
            <a:off x="8096250" y="413385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answers and reasoning redacted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80394B-2FB8-4B88-A02D-8C8FFE1A5E72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9982200" cy="1333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6B0D31-1E3B-481B-BF0C-6C226073E12A}"/>
              </a:ext>
            </a:extLst>
          </p:cNvPr>
          <p:cNvSpPr>
            <a:spLocks noGrp="1"/>
          </p:cNvSpPr>
          <p:nvPr/>
        </p:nvSpPr>
        <p:spPr>
          <a:xfrm>
            <a:off x="838200" y="5353050"/>
            <a:ext cx="800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 protocols render from one canonical row, avoiding protocol-specific JSONL duplication.</a:t>
            </a:r>
          </a:p>
        </p:txBody>
      </p:sp>
    </p:spTree>
    <p:extLst>
      <p:ext uri="{BB962C8B-B14F-4D97-AF65-F5344CB8AC3E}">
        <p14:creationId xmlns:p14="http://schemas.microsoft.com/office/powerpoint/2010/main" val="125980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848BC3A-36F1-44C8-8C27-ABD53CAB0A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FA560B-E059-487B-907D-154CE12C50A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CHAPTER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4E7F9-E5B4-44CF-A5DA-A172BCC44A04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350682-82AA-4D5D-B932-20ADFC6ED1D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Headline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87BFF1-BB71-4C2A-82A2-A47607520341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Accuracy, cost, and latency across the controlled seven-method table.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DE26E7-A9AA-497D-96C1-70AA0AB8384D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1722D8-6BF2-4720-A8AD-15862B751B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07F91B-A8E1-4BA2-8FE8-C2B2D4B3582A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CHAPTER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5E4CD-5751-4640-8EA7-4C1F2FF077F9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2476500" cy="190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D49CA3-49B9-4737-9117-F983A4696B96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8382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Headline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EC6B8B-3060-4982-B70F-194CFB2000F8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Accuracy, cost, and latency across the controlled seven-method table.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F0BECA-C6B6-41C9-8D3C-77E829E1E866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345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FCCA78E0-CA5A-4352-B72E-CF3E9918730D}"/>
              </a:ext>
            </a:extLst>
          </p:cNvPr>
          <p:cNvSpPr>
            <a:spLocks noGrp="1"/>
          </p:cNvSpPr>
          <p:nvPr/>
        </p:nvSpPr>
        <p:spPr>
          <a:xfrm>
            <a:off x="0" y="352425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5F608A-1E04-4D54-A9C5-C051F9E39512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A78579-EB03-40CC-9600-7FFDB035B4B2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C8B24A-B5CC-443A-97A3-B197E7EDA68A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harness leads both domains, not just the aggregate.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6F31D3-0943-4466-A431-ED2A9EF0CEBD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Accuracy by domain, n=148. Datasheets n=101; finance n=47.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B856A-2089-4B0A-98FA-FD989B4425F6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8D6E0-4084-414E-B4CA-9AAF63434FF7}"/>
              </a:ext>
            </a:extLst>
          </p:cNvPr>
          <p:cNvSpPr>
            <a:spLocks noGrp="1"/>
          </p:cNvSpPr>
          <p:nvPr/>
        </p:nvSpPr>
        <p:spPr>
          <a:xfrm>
            <a:off x="2476500" y="20002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Datasheet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26417F-EBDC-4B4B-9709-28C689424330}"/>
              </a:ext>
            </a:extLst>
          </p:cNvPr>
          <p:cNvSpPr>
            <a:spLocks noGrp="1"/>
          </p:cNvSpPr>
          <p:nvPr/>
        </p:nvSpPr>
        <p:spPr>
          <a:xfrm>
            <a:off x="4819650" y="20002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Fin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80CCAB-3B81-4346-BCD6-492F3D726393}"/>
              </a:ext>
            </a:extLst>
          </p:cNvPr>
          <p:cNvSpPr>
            <a:spLocks noGrp="1"/>
          </p:cNvSpPr>
          <p:nvPr/>
        </p:nvSpPr>
        <p:spPr>
          <a:xfrm>
            <a:off x="7162800" y="20002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10EF50-A20E-4615-B06A-7CCB496CF455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VLM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FD4316-1060-4B01-A21A-099C10D6D125}"/>
              </a:ext>
            </a:extLst>
          </p:cNvPr>
          <p:cNvSpPr>
            <a:spLocks noGrp="1"/>
          </p:cNvSpPr>
          <p:nvPr/>
        </p:nvSpPr>
        <p:spPr>
          <a:xfrm>
            <a:off x="2476500" y="230505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CD6241-4C81-4033-BB7A-23B8CABD4B72}"/>
              </a:ext>
            </a:extLst>
          </p:cNvPr>
          <p:cNvSpPr>
            <a:spLocks noGrp="1"/>
          </p:cNvSpPr>
          <p:nvPr/>
        </p:nvSpPr>
        <p:spPr>
          <a:xfrm>
            <a:off x="2476500" y="2305050"/>
            <a:ext cx="1095693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8B2264-AB52-4E0B-A0CE-75E2880C2FC4}"/>
              </a:ext>
            </a:extLst>
          </p:cNvPr>
          <p:cNvSpPr>
            <a:spLocks noGrp="1"/>
          </p:cNvSpPr>
          <p:nvPr/>
        </p:nvSpPr>
        <p:spPr>
          <a:xfrm>
            <a:off x="4171950" y="22955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40.6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6A0C79-A08E-4AB5-A857-1A04DC24F120}"/>
              </a:ext>
            </a:extLst>
          </p:cNvPr>
          <p:cNvSpPr>
            <a:spLocks noGrp="1"/>
          </p:cNvSpPr>
          <p:nvPr/>
        </p:nvSpPr>
        <p:spPr>
          <a:xfrm>
            <a:off x="4819650" y="230505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338FD-206E-4DF6-BE4A-D694296E9884}"/>
              </a:ext>
            </a:extLst>
          </p:cNvPr>
          <p:cNvSpPr>
            <a:spLocks noGrp="1"/>
          </p:cNvSpPr>
          <p:nvPr/>
        </p:nvSpPr>
        <p:spPr>
          <a:xfrm>
            <a:off x="4819650" y="2305050"/>
            <a:ext cx="860901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EEC4E9-3DC9-49C8-9790-29E7675AA3F4}"/>
              </a:ext>
            </a:extLst>
          </p:cNvPr>
          <p:cNvSpPr>
            <a:spLocks noGrp="1"/>
          </p:cNvSpPr>
          <p:nvPr/>
        </p:nvSpPr>
        <p:spPr>
          <a:xfrm>
            <a:off x="6515100" y="22955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31.9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DD33B0-DC85-4A09-9790-4257607078DC}"/>
              </a:ext>
            </a:extLst>
          </p:cNvPr>
          <p:cNvSpPr>
            <a:spLocks noGrp="1"/>
          </p:cNvSpPr>
          <p:nvPr/>
        </p:nvSpPr>
        <p:spPr>
          <a:xfrm>
            <a:off x="7162800" y="230505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4D30C4-2021-4D6B-9E23-6F4AB9ABBF09}"/>
              </a:ext>
            </a:extLst>
          </p:cNvPr>
          <p:cNvSpPr>
            <a:spLocks noGrp="1"/>
          </p:cNvSpPr>
          <p:nvPr/>
        </p:nvSpPr>
        <p:spPr>
          <a:xfrm>
            <a:off x="7162800" y="2305050"/>
            <a:ext cx="1020127" cy="1905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1CAFC4-717D-4DC9-A4EB-49094159CA2E}"/>
              </a:ext>
            </a:extLst>
          </p:cNvPr>
          <p:cNvSpPr>
            <a:spLocks noGrp="1"/>
          </p:cNvSpPr>
          <p:nvPr/>
        </p:nvSpPr>
        <p:spPr>
          <a:xfrm>
            <a:off x="8858250" y="22955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37.8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0660B6-CB3A-48DA-BA77-37E655A4C9ED}"/>
              </a:ext>
            </a:extLst>
          </p:cNvPr>
          <p:cNvSpPr>
            <a:spLocks noGrp="1"/>
          </p:cNvSpPr>
          <p:nvPr/>
        </p:nvSpPr>
        <p:spPr>
          <a:xfrm>
            <a:off x="876300" y="2714625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DD7A86-076D-46CF-AA09-552081E58193}"/>
              </a:ext>
            </a:extLst>
          </p:cNvPr>
          <p:cNvSpPr>
            <a:spLocks noGrp="1"/>
          </p:cNvSpPr>
          <p:nvPr/>
        </p:nvSpPr>
        <p:spPr>
          <a:xfrm>
            <a:off x="2476500" y="273367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F7A53B-9577-4E59-B215-0C3F07154FDE}"/>
              </a:ext>
            </a:extLst>
          </p:cNvPr>
          <p:cNvSpPr>
            <a:spLocks noGrp="1"/>
          </p:cNvSpPr>
          <p:nvPr/>
        </p:nvSpPr>
        <p:spPr>
          <a:xfrm>
            <a:off x="2476500" y="2733675"/>
            <a:ext cx="453390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2E41B6-A411-4EAE-B0DD-4E77937BA15D}"/>
              </a:ext>
            </a:extLst>
          </p:cNvPr>
          <p:cNvSpPr>
            <a:spLocks noGrp="1"/>
          </p:cNvSpPr>
          <p:nvPr/>
        </p:nvSpPr>
        <p:spPr>
          <a:xfrm>
            <a:off x="4171950" y="272415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16.8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C24652-E1EE-4666-A605-F6CA945998B9}"/>
              </a:ext>
            </a:extLst>
          </p:cNvPr>
          <p:cNvSpPr>
            <a:spLocks noGrp="1"/>
          </p:cNvSpPr>
          <p:nvPr/>
        </p:nvSpPr>
        <p:spPr>
          <a:xfrm>
            <a:off x="4819650" y="273367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88ECE6-D74E-4104-AE8E-8A0B642AB938}"/>
              </a:ext>
            </a:extLst>
          </p:cNvPr>
          <p:cNvSpPr>
            <a:spLocks noGrp="1"/>
          </p:cNvSpPr>
          <p:nvPr/>
        </p:nvSpPr>
        <p:spPr>
          <a:xfrm>
            <a:off x="4819650" y="2733675"/>
            <a:ext cx="172720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84F8E7-B492-4D12-869E-7A675E377011}"/>
              </a:ext>
            </a:extLst>
          </p:cNvPr>
          <p:cNvSpPr>
            <a:spLocks noGrp="1"/>
          </p:cNvSpPr>
          <p:nvPr/>
        </p:nvSpPr>
        <p:spPr>
          <a:xfrm>
            <a:off x="6515100" y="272415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3F0BF3-61EA-4552-8B18-F521EB4733D4}"/>
              </a:ext>
            </a:extLst>
          </p:cNvPr>
          <p:cNvSpPr>
            <a:spLocks noGrp="1"/>
          </p:cNvSpPr>
          <p:nvPr/>
        </p:nvSpPr>
        <p:spPr>
          <a:xfrm>
            <a:off x="7162800" y="273367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1B6E42-8621-4C2F-91FA-BDB07194F9CD}"/>
              </a:ext>
            </a:extLst>
          </p:cNvPr>
          <p:cNvSpPr>
            <a:spLocks noGrp="1"/>
          </p:cNvSpPr>
          <p:nvPr/>
        </p:nvSpPr>
        <p:spPr>
          <a:xfrm>
            <a:off x="7162800" y="2733675"/>
            <a:ext cx="364331" cy="1905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A65FFC-5D08-4248-85DC-5647366480BC}"/>
              </a:ext>
            </a:extLst>
          </p:cNvPr>
          <p:cNvSpPr>
            <a:spLocks noGrp="1"/>
          </p:cNvSpPr>
          <p:nvPr/>
        </p:nvSpPr>
        <p:spPr>
          <a:xfrm>
            <a:off x="8858250" y="272415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6A5DC3-3E8A-4B77-B4DE-70F40399F36D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61D713-9605-467D-BF8F-C9646FFCD2FB}"/>
              </a:ext>
            </a:extLst>
          </p:cNvPr>
          <p:cNvSpPr>
            <a:spLocks noGrp="1"/>
          </p:cNvSpPr>
          <p:nvPr/>
        </p:nvSpPr>
        <p:spPr>
          <a:xfrm>
            <a:off x="2476500" y="316230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2F8F56-B919-43D9-9713-9732B5025CBD}"/>
              </a:ext>
            </a:extLst>
          </p:cNvPr>
          <p:cNvSpPr>
            <a:spLocks noGrp="1"/>
          </p:cNvSpPr>
          <p:nvPr/>
        </p:nvSpPr>
        <p:spPr>
          <a:xfrm>
            <a:off x="2476500" y="3162300"/>
            <a:ext cx="507365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68C68D-8A1E-4090-BD93-A5752EF5F110}"/>
              </a:ext>
            </a:extLst>
          </p:cNvPr>
          <p:cNvSpPr>
            <a:spLocks noGrp="1"/>
          </p:cNvSpPr>
          <p:nvPr/>
        </p:nvSpPr>
        <p:spPr>
          <a:xfrm>
            <a:off x="4171950" y="315277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18.8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A306E0-F2DA-40CB-BA32-900A60E04047}"/>
              </a:ext>
            </a:extLst>
          </p:cNvPr>
          <p:cNvSpPr>
            <a:spLocks noGrp="1"/>
          </p:cNvSpPr>
          <p:nvPr/>
        </p:nvSpPr>
        <p:spPr>
          <a:xfrm>
            <a:off x="4819650" y="316230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C897F0-9B97-4B69-874E-37F89224C66A}"/>
              </a:ext>
            </a:extLst>
          </p:cNvPr>
          <p:cNvSpPr>
            <a:spLocks noGrp="1"/>
          </p:cNvSpPr>
          <p:nvPr/>
        </p:nvSpPr>
        <p:spPr>
          <a:xfrm>
            <a:off x="4819650" y="3162300"/>
            <a:ext cx="116046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E78B82-DE53-4168-B670-8971C52809A6}"/>
              </a:ext>
            </a:extLst>
          </p:cNvPr>
          <p:cNvSpPr>
            <a:spLocks noGrp="1"/>
          </p:cNvSpPr>
          <p:nvPr/>
        </p:nvSpPr>
        <p:spPr>
          <a:xfrm>
            <a:off x="6515100" y="315277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A90780-7A51-4549-A870-00081503473F}"/>
              </a:ext>
            </a:extLst>
          </p:cNvPr>
          <p:cNvSpPr>
            <a:spLocks noGrp="1"/>
          </p:cNvSpPr>
          <p:nvPr/>
        </p:nvSpPr>
        <p:spPr>
          <a:xfrm>
            <a:off x="7162800" y="316230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A72ED2-7FC9-4E44-B910-A9A96A4778EC}"/>
              </a:ext>
            </a:extLst>
          </p:cNvPr>
          <p:cNvSpPr>
            <a:spLocks noGrp="1"/>
          </p:cNvSpPr>
          <p:nvPr/>
        </p:nvSpPr>
        <p:spPr>
          <a:xfrm>
            <a:off x="7162800" y="3162300"/>
            <a:ext cx="383223" cy="1905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4E1A72-4E20-4344-92EC-D75802C42212}"/>
              </a:ext>
            </a:extLst>
          </p:cNvPr>
          <p:cNvSpPr>
            <a:spLocks noGrp="1"/>
          </p:cNvSpPr>
          <p:nvPr/>
        </p:nvSpPr>
        <p:spPr>
          <a:xfrm>
            <a:off x="8858250" y="315277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14.2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2D844B-7998-4828-A1A9-52BFA74AF9F6}"/>
              </a:ext>
            </a:extLst>
          </p:cNvPr>
          <p:cNvSpPr>
            <a:spLocks noGrp="1"/>
          </p:cNvSpPr>
          <p:nvPr/>
        </p:nvSpPr>
        <p:spPr>
          <a:xfrm>
            <a:off x="876300" y="3571875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927A05-1E8B-491F-AC09-150BD4796C69}"/>
              </a:ext>
            </a:extLst>
          </p:cNvPr>
          <p:cNvSpPr>
            <a:spLocks noGrp="1"/>
          </p:cNvSpPr>
          <p:nvPr/>
        </p:nvSpPr>
        <p:spPr>
          <a:xfrm>
            <a:off x="2476500" y="359092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DF2D7C-AB62-48C5-950C-03F252B028B1}"/>
              </a:ext>
            </a:extLst>
          </p:cNvPr>
          <p:cNvSpPr>
            <a:spLocks noGrp="1"/>
          </p:cNvSpPr>
          <p:nvPr/>
        </p:nvSpPr>
        <p:spPr>
          <a:xfrm>
            <a:off x="2476500" y="3590925"/>
            <a:ext cx="267176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0F4830-7374-4E2A-B4B7-9810E7E05272}"/>
              </a:ext>
            </a:extLst>
          </p:cNvPr>
          <p:cNvSpPr>
            <a:spLocks noGrp="1"/>
          </p:cNvSpPr>
          <p:nvPr/>
        </p:nvSpPr>
        <p:spPr>
          <a:xfrm>
            <a:off x="4171950" y="35814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9.9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EE1CC4C-40C6-4D80-9ED4-156981A7728B}"/>
              </a:ext>
            </a:extLst>
          </p:cNvPr>
          <p:cNvSpPr>
            <a:spLocks noGrp="1"/>
          </p:cNvSpPr>
          <p:nvPr/>
        </p:nvSpPr>
        <p:spPr>
          <a:xfrm>
            <a:off x="4819650" y="359092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2023C0-942F-4C28-BA67-E3B9060EC960}"/>
              </a:ext>
            </a:extLst>
          </p:cNvPr>
          <p:cNvSpPr>
            <a:spLocks noGrp="1"/>
          </p:cNvSpPr>
          <p:nvPr/>
        </p:nvSpPr>
        <p:spPr>
          <a:xfrm>
            <a:off x="4819650" y="3590925"/>
            <a:ext cx="116046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54FEAF-3C8F-4CAE-A356-439943E5C999}"/>
              </a:ext>
            </a:extLst>
          </p:cNvPr>
          <p:cNvSpPr>
            <a:spLocks noGrp="1"/>
          </p:cNvSpPr>
          <p:nvPr/>
        </p:nvSpPr>
        <p:spPr>
          <a:xfrm>
            <a:off x="6515100" y="35814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32B0FA-179C-4740-8BB7-BE9A05390F91}"/>
              </a:ext>
            </a:extLst>
          </p:cNvPr>
          <p:cNvSpPr>
            <a:spLocks noGrp="1"/>
          </p:cNvSpPr>
          <p:nvPr/>
        </p:nvSpPr>
        <p:spPr>
          <a:xfrm>
            <a:off x="7162800" y="359092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0CF6D6-1345-41A2-A1B3-EC93D9EF03A3}"/>
              </a:ext>
            </a:extLst>
          </p:cNvPr>
          <p:cNvSpPr>
            <a:spLocks noGrp="1"/>
          </p:cNvSpPr>
          <p:nvPr/>
        </p:nvSpPr>
        <p:spPr>
          <a:xfrm>
            <a:off x="7162800" y="3590925"/>
            <a:ext cx="218599" cy="1905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86E2E4-E801-43AE-A130-BDBC59E430B3}"/>
              </a:ext>
            </a:extLst>
          </p:cNvPr>
          <p:cNvSpPr>
            <a:spLocks noGrp="1"/>
          </p:cNvSpPr>
          <p:nvPr/>
        </p:nvSpPr>
        <p:spPr>
          <a:xfrm>
            <a:off x="8858250" y="358140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8.1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21861A6-891E-4E57-8D67-3384FD2D2669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56184B-9BE5-427A-A958-8D7BFB6F5CA7}"/>
              </a:ext>
            </a:extLst>
          </p:cNvPr>
          <p:cNvSpPr>
            <a:spLocks noGrp="1"/>
          </p:cNvSpPr>
          <p:nvPr/>
        </p:nvSpPr>
        <p:spPr>
          <a:xfrm>
            <a:off x="2476500" y="401955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C13B340-68B0-405B-9B11-EA77B37311C9}"/>
              </a:ext>
            </a:extLst>
          </p:cNvPr>
          <p:cNvSpPr>
            <a:spLocks noGrp="1"/>
          </p:cNvSpPr>
          <p:nvPr/>
        </p:nvSpPr>
        <p:spPr>
          <a:xfrm>
            <a:off x="2476500" y="4019550"/>
            <a:ext cx="213201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E5DEA8-6D15-40CC-98DA-B575F882A8C3}"/>
              </a:ext>
            </a:extLst>
          </p:cNvPr>
          <p:cNvSpPr>
            <a:spLocks noGrp="1"/>
          </p:cNvSpPr>
          <p:nvPr/>
        </p:nvSpPr>
        <p:spPr>
          <a:xfrm>
            <a:off x="4171950" y="40100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7.9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69DEC3E-574E-4D7D-953E-F5058B6A258B}"/>
              </a:ext>
            </a:extLst>
          </p:cNvPr>
          <p:cNvSpPr>
            <a:spLocks noGrp="1"/>
          </p:cNvSpPr>
          <p:nvPr/>
        </p:nvSpPr>
        <p:spPr>
          <a:xfrm>
            <a:off x="4819650" y="401955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017EDF8-7F5D-4D0E-8198-21555962FA81}"/>
              </a:ext>
            </a:extLst>
          </p:cNvPr>
          <p:cNvSpPr>
            <a:spLocks noGrp="1"/>
          </p:cNvSpPr>
          <p:nvPr/>
        </p:nvSpPr>
        <p:spPr>
          <a:xfrm>
            <a:off x="4819650" y="4019550"/>
            <a:ext cx="116046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23287F9-5570-482F-B8D1-2212A28C78A1}"/>
              </a:ext>
            </a:extLst>
          </p:cNvPr>
          <p:cNvSpPr>
            <a:spLocks noGrp="1"/>
          </p:cNvSpPr>
          <p:nvPr/>
        </p:nvSpPr>
        <p:spPr>
          <a:xfrm>
            <a:off x="6515100" y="40100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4.3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F6480C3-C661-420E-BCD5-0BAF44F04AF5}"/>
              </a:ext>
            </a:extLst>
          </p:cNvPr>
          <p:cNvSpPr>
            <a:spLocks noGrp="1"/>
          </p:cNvSpPr>
          <p:nvPr/>
        </p:nvSpPr>
        <p:spPr>
          <a:xfrm>
            <a:off x="7162800" y="401955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ED30C71-4F58-49F5-BE90-65725CDD04A5}"/>
              </a:ext>
            </a:extLst>
          </p:cNvPr>
          <p:cNvSpPr>
            <a:spLocks noGrp="1"/>
          </p:cNvSpPr>
          <p:nvPr/>
        </p:nvSpPr>
        <p:spPr>
          <a:xfrm>
            <a:off x="7162800" y="4019550"/>
            <a:ext cx="183515" cy="1905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CE1C94-C859-4458-B1F7-637420C9C0B8}"/>
              </a:ext>
            </a:extLst>
          </p:cNvPr>
          <p:cNvSpPr>
            <a:spLocks noGrp="1"/>
          </p:cNvSpPr>
          <p:nvPr/>
        </p:nvSpPr>
        <p:spPr>
          <a:xfrm>
            <a:off x="8858250" y="401002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ED26E6C-1A16-4C12-9A21-75CBDFCFF5FB}"/>
              </a:ext>
            </a:extLst>
          </p:cNvPr>
          <p:cNvSpPr>
            <a:spLocks noGrp="1"/>
          </p:cNvSpPr>
          <p:nvPr/>
        </p:nvSpPr>
        <p:spPr>
          <a:xfrm>
            <a:off x="876300" y="4429125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Harness +2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152B79F-B03B-406E-9B13-3C780179EC16}"/>
              </a:ext>
            </a:extLst>
          </p:cNvPr>
          <p:cNvSpPr>
            <a:spLocks noGrp="1"/>
          </p:cNvSpPr>
          <p:nvPr/>
        </p:nvSpPr>
        <p:spPr>
          <a:xfrm>
            <a:off x="2476500" y="444817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B4E8E24-97D5-4D7E-BFC4-211EFF840D8B}"/>
              </a:ext>
            </a:extLst>
          </p:cNvPr>
          <p:cNvSpPr>
            <a:spLocks noGrp="1"/>
          </p:cNvSpPr>
          <p:nvPr/>
        </p:nvSpPr>
        <p:spPr>
          <a:xfrm>
            <a:off x="2476500" y="4448175"/>
            <a:ext cx="1522095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BC17445-B08F-4728-BA38-67F627BAC59C}"/>
              </a:ext>
            </a:extLst>
          </p:cNvPr>
          <p:cNvSpPr>
            <a:spLocks noGrp="1"/>
          </p:cNvSpPr>
          <p:nvPr/>
        </p:nvSpPr>
        <p:spPr>
          <a:xfrm>
            <a:off x="4171950" y="443865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  <a:r>
              <a:rPr lang="en-US"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  <a:r>
              <a:rPr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99D7CDA-F977-4D32-BB66-50D75479033C}"/>
              </a:ext>
            </a:extLst>
          </p:cNvPr>
          <p:cNvSpPr>
            <a:spLocks noGrp="1"/>
          </p:cNvSpPr>
          <p:nvPr/>
        </p:nvSpPr>
        <p:spPr>
          <a:xfrm>
            <a:off x="4819650" y="444817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10611E0-8AB5-4507-B026-1E1EFF060293}"/>
              </a:ext>
            </a:extLst>
          </p:cNvPr>
          <p:cNvSpPr>
            <a:spLocks noGrp="1"/>
          </p:cNvSpPr>
          <p:nvPr/>
        </p:nvSpPr>
        <p:spPr>
          <a:xfrm>
            <a:off x="4819650" y="4448175"/>
            <a:ext cx="976948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522F069-2B77-4EB2-9448-02B4CA1CA006}"/>
              </a:ext>
            </a:extLst>
          </p:cNvPr>
          <p:cNvSpPr>
            <a:spLocks noGrp="1"/>
          </p:cNvSpPr>
          <p:nvPr/>
        </p:nvSpPr>
        <p:spPr>
          <a:xfrm>
            <a:off x="6515100" y="443865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  <a:r>
              <a:rPr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2AB6B37-0538-4247-9CAD-56F9604BAA84}"/>
              </a:ext>
            </a:extLst>
          </p:cNvPr>
          <p:cNvSpPr>
            <a:spLocks noGrp="1"/>
          </p:cNvSpPr>
          <p:nvPr/>
        </p:nvSpPr>
        <p:spPr>
          <a:xfrm>
            <a:off x="7162800" y="4448175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B81AC24-9B7D-4A6B-A88D-C19387B79A39}"/>
              </a:ext>
            </a:extLst>
          </p:cNvPr>
          <p:cNvSpPr>
            <a:spLocks noGrp="1"/>
          </p:cNvSpPr>
          <p:nvPr/>
        </p:nvSpPr>
        <p:spPr>
          <a:xfrm>
            <a:off x="7162800" y="4448175"/>
            <a:ext cx="1349375" cy="1905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A87A230-B822-4409-BCAB-818B15A034A4}"/>
              </a:ext>
            </a:extLst>
          </p:cNvPr>
          <p:cNvSpPr>
            <a:spLocks noGrp="1"/>
          </p:cNvSpPr>
          <p:nvPr/>
        </p:nvSpPr>
        <p:spPr>
          <a:xfrm>
            <a:off x="8858250" y="4438650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  <a:r>
              <a:rPr lang="en-US"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  <a:r>
              <a:rPr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A095928-0958-4156-8F37-0E8EDFB62A8A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3469B8A-F7F2-4040-AC28-5CBD734C00D0}"/>
              </a:ext>
            </a:extLst>
          </p:cNvPr>
          <p:cNvSpPr>
            <a:spLocks noGrp="1"/>
          </p:cNvSpPr>
          <p:nvPr/>
        </p:nvSpPr>
        <p:spPr>
          <a:xfrm>
            <a:off x="2476500" y="487680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006485D-3C80-4D9D-BB1C-BAAB4AFE7C29}"/>
              </a:ext>
            </a:extLst>
          </p:cNvPr>
          <p:cNvSpPr>
            <a:spLocks noGrp="1"/>
          </p:cNvSpPr>
          <p:nvPr/>
        </p:nvSpPr>
        <p:spPr>
          <a:xfrm>
            <a:off x="2476500" y="4876800"/>
            <a:ext cx="1335881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67E8423-9429-4B8A-9AE6-8A67CEE92BF4}"/>
              </a:ext>
            </a:extLst>
          </p:cNvPr>
          <p:cNvSpPr>
            <a:spLocks noGrp="1"/>
          </p:cNvSpPr>
          <p:nvPr/>
        </p:nvSpPr>
        <p:spPr>
          <a:xfrm>
            <a:off x="4171950" y="486727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58.9</a:t>
            </a:r>
            <a:endParaRPr sz="9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F92E4F0-749B-4DA9-8CDC-D35ABF50443B}"/>
              </a:ext>
            </a:extLst>
          </p:cNvPr>
          <p:cNvSpPr>
            <a:spLocks noGrp="1"/>
          </p:cNvSpPr>
          <p:nvPr/>
        </p:nvSpPr>
        <p:spPr>
          <a:xfrm>
            <a:off x="4819650" y="487680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E2B2C21-DDDC-4ABD-8A15-5FC8743047DD}"/>
              </a:ext>
            </a:extLst>
          </p:cNvPr>
          <p:cNvSpPr>
            <a:spLocks noGrp="1"/>
          </p:cNvSpPr>
          <p:nvPr/>
        </p:nvSpPr>
        <p:spPr>
          <a:xfrm>
            <a:off x="4819650" y="4876800"/>
            <a:ext cx="860901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38EBA4-DFFA-4EE1-876F-B6EC048165AD}"/>
              </a:ext>
            </a:extLst>
          </p:cNvPr>
          <p:cNvSpPr>
            <a:spLocks noGrp="1"/>
          </p:cNvSpPr>
          <p:nvPr/>
        </p:nvSpPr>
        <p:spPr>
          <a:xfrm>
            <a:off x="6515100" y="486727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57</a:t>
            </a:r>
            <a:r>
              <a:rPr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.9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7BAEC4C-1140-4AD7-BC2A-ED4C767BCE44}"/>
              </a:ext>
            </a:extLst>
          </p:cNvPr>
          <p:cNvSpPr>
            <a:spLocks noGrp="1"/>
          </p:cNvSpPr>
          <p:nvPr/>
        </p:nvSpPr>
        <p:spPr>
          <a:xfrm>
            <a:off x="7162800" y="4876800"/>
            <a:ext cx="161925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62F8850-1F78-4504-89FB-D1D610A56FBE}"/>
              </a:ext>
            </a:extLst>
          </p:cNvPr>
          <p:cNvSpPr>
            <a:spLocks noGrp="1"/>
          </p:cNvSpPr>
          <p:nvPr/>
        </p:nvSpPr>
        <p:spPr>
          <a:xfrm>
            <a:off x="7162800" y="4876800"/>
            <a:ext cx="1184751" cy="1905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6DE4A92-EFEC-4545-8254-EDBB93E01C10}"/>
              </a:ext>
            </a:extLst>
          </p:cNvPr>
          <p:cNvSpPr>
            <a:spLocks noGrp="1"/>
          </p:cNvSpPr>
          <p:nvPr/>
        </p:nvSpPr>
        <p:spPr>
          <a:xfrm>
            <a:off x="8858250" y="4867275"/>
            <a:ext cx="514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9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58.3</a:t>
            </a:r>
            <a:endParaRPr sz="9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CD8824A-D0A5-463F-A512-56541BC07067}"/>
              </a:ext>
            </a:extLst>
          </p:cNvPr>
          <p:cNvSpPr>
            <a:spLocks noGrp="1"/>
          </p:cNvSpPr>
          <p:nvPr/>
        </p:nvSpPr>
        <p:spPr>
          <a:xfrm>
            <a:off x="9105900" y="2781300"/>
            <a:ext cx="1714500" cy="10668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71450" tIns="133350" rIns="171450" bIns="133350" anchor="t"/>
          <a:lstStyle/>
          <a:p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Highest cells:</a:t>
            </a:r>
          </a:p>
          <a:p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56.4 datasheet</a:t>
            </a:r>
          </a:p>
          <a:p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36.2 finance</a:t>
            </a:r>
          </a:p>
          <a:p>
            <a:pPr algn="l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50.0 overall</a:t>
            </a:r>
          </a:p>
        </p:txBody>
      </p:sp>
    </p:spTree>
    <p:extLst>
      <p:ext uri="{BB962C8B-B14F-4D97-AF65-F5344CB8AC3E}">
        <p14:creationId xmlns:p14="http://schemas.microsoft.com/office/powerpoint/2010/main" val="1313267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D685450-2E9D-456F-83E7-057BAC9E39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8FBCAD-D964-4E81-AE0F-60BD713DE73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CHAPTER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61D72-4952-4DB6-A245-A74D82D6A556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F5327-4A92-4811-BADB-9EF28A7FB31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Research context and harness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BFF27-8BD0-4773-A36F-65619DCBE26F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Where this work fits and what FocusParse adds structurally.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A5536-D04B-47B6-A1BA-9AA67D1967AF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F61B08-1DB4-4504-8D33-9593D6C3A0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8C3982-4AF4-42F4-98DD-73911214D969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CHAPTER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7668A6-E79C-4810-8E6D-919C32720AEE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2476500" cy="190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E59E3A-12E3-4AE9-B45D-C5290F26062C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8382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Research context and harness architecture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AA271-8977-4357-AA47-B0D7A188F750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Where this work fits and what FocusParse adds structurally.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79DB9B-87D0-4124-BDF1-937CC44E4A5A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25285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D2BB00-1565-48A0-8E27-0F8B81755C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92BBE5-731B-4B57-B122-06B874DE023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C5F3AD-E6E3-4012-B6C7-0DF8838B598E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13CC21-CA7F-4684-AE99-8165185F8D9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This sits in the evidence-localization turn in document QA.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6C8C5-A6B2-4354-852E-F65157B14859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AgenticOCR, DocLens, and Gemini Agentic Vision all point at the same bottleneck: the model needs the right region, not more irrelevant page pixels.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7DB1E-537B-4EAE-B71A-9C5909EEBEEC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5D0F7F-8EB4-4BBD-B99D-B47BB7A30E06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2228850" cy="12001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D10CA5-7A0D-4B55-9E7D-DFBDD4D773B8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1885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AgenticOCR</a:t>
            </a:r>
          </a:p>
          <a:p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parse only what is needed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EC80AC-2F3E-4AF8-9F45-E344E804A771}"/>
              </a:ext>
            </a:extLst>
          </p:cNvPr>
          <p:cNvSpPr>
            <a:spLocks noGrp="1"/>
          </p:cNvSpPr>
          <p:nvPr/>
        </p:nvSpPr>
        <p:spPr>
          <a:xfrm>
            <a:off x="2952750" y="3228975"/>
            <a:ext cx="3619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BC0D5-A3AD-4E52-A722-6D41ADB55602}"/>
              </a:ext>
            </a:extLst>
          </p:cNvPr>
          <p:cNvSpPr>
            <a:spLocks noGrp="1"/>
          </p:cNvSpPr>
          <p:nvPr/>
        </p:nvSpPr>
        <p:spPr>
          <a:xfrm>
            <a:off x="3409950" y="2647950"/>
            <a:ext cx="2228850" cy="12001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DC366-7A27-48D6-BC0A-B03D0E112363}"/>
              </a:ext>
            </a:extLst>
          </p:cNvPr>
          <p:cNvSpPr>
            <a:spLocks noGrp="1"/>
          </p:cNvSpPr>
          <p:nvPr/>
        </p:nvSpPr>
        <p:spPr>
          <a:xfrm>
            <a:off x="3581400" y="2895600"/>
            <a:ext cx="1885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DocLens</a:t>
            </a:r>
          </a:p>
          <a:p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to element decomposition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B5A4D8-2966-490E-B418-5828DD1C4460}"/>
              </a:ext>
            </a:extLst>
          </p:cNvPr>
          <p:cNvSpPr>
            <a:spLocks noGrp="1"/>
          </p:cNvSpPr>
          <p:nvPr/>
        </p:nvSpPr>
        <p:spPr>
          <a:xfrm>
            <a:off x="5734050" y="3228975"/>
            <a:ext cx="3619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621787-08F0-4059-8E2D-5E97483664F0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2228850" cy="12001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00F2B-A04D-4262-878D-9509B6711669}"/>
              </a:ext>
            </a:extLst>
          </p:cNvPr>
          <p:cNvSpPr>
            <a:spLocks noGrp="1"/>
          </p:cNvSpPr>
          <p:nvPr/>
        </p:nvSpPr>
        <p:spPr>
          <a:xfrm>
            <a:off x="6362700" y="2895600"/>
            <a:ext cx="1885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Gemini Agentic Vision</a:t>
            </a:r>
          </a:p>
          <a:p>
            <a:pPr algn="ctr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act on images with tools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1BB0CF-02B5-4DE4-A07F-1022CE9352E0}"/>
              </a:ext>
            </a:extLst>
          </p:cNvPr>
          <p:cNvSpPr>
            <a:spLocks noGrp="1"/>
          </p:cNvSpPr>
          <p:nvPr/>
        </p:nvSpPr>
        <p:spPr>
          <a:xfrm>
            <a:off x="8515350" y="3228975"/>
            <a:ext cx="3619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1F8202-EDFE-434F-8579-0FEFAA93932E}"/>
              </a:ext>
            </a:extLst>
          </p:cNvPr>
          <p:cNvSpPr>
            <a:spLocks noGrp="1"/>
          </p:cNvSpPr>
          <p:nvPr/>
        </p:nvSpPr>
        <p:spPr>
          <a:xfrm>
            <a:off x="8972550" y="2647950"/>
            <a:ext cx="2228850" cy="12001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A3D2AF-A351-4983-93D3-9B1DA806CD18}"/>
              </a:ext>
            </a:extLst>
          </p:cNvPr>
          <p:cNvSpPr>
            <a:spLocks noGrp="1"/>
          </p:cNvSpPr>
          <p:nvPr/>
        </p:nvSpPr>
        <p:spPr>
          <a:xfrm>
            <a:off x="9144000" y="2895600"/>
            <a:ext cx="18859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FocusParse</a:t>
            </a:r>
          </a:p>
          <a:p>
            <a:pPr algn="ctr">
              <a:defRPr sz="14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typed evidence + verifier control</a:t>
            </a:r>
          </a:p>
        </p:txBody>
      </p:sp>
    </p:spTree>
    <p:extLst>
      <p:ext uri="{BB962C8B-B14F-4D97-AF65-F5344CB8AC3E}">
        <p14:creationId xmlns:p14="http://schemas.microsoft.com/office/powerpoint/2010/main" val="1720735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0459CE0-120B-4F9F-A213-9D53BDB4FD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3F3C3B-1F2D-49C0-A840-AF770297C500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HARNESS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C9969-B46B-4CA7-B7F0-EDF741DF8654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BAEA92-7FE8-43B3-A24A-A892515920E5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FocusParse turns a loose agent loop into a typed state machine.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F58B9-7ECA-4B2B-B9B5-CA69AD806790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reasoner sees EvidencePackets, not raw pages or free-form tool transcripts.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776D1C-1C8A-4451-A24E-B56CE207C49C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C7144-145B-497C-A70D-C42E158AABCB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EAAAA-D77A-49F1-A451-2BCB8AE922F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00250" cy="5905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E782B1-713C-4673-9E61-B58A89ABF27B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0D9220-E9FF-4B12-B5E7-950376E27C55}"/>
              </a:ext>
            </a:extLst>
          </p:cNvPr>
          <p:cNvSpPr>
            <a:spLocks noGrp="1"/>
          </p:cNvSpPr>
          <p:nvPr/>
        </p:nvSpPr>
        <p:spPr>
          <a:xfrm>
            <a:off x="2800350" y="24765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13B6F9-A385-47F8-9F23-D879872920B3}"/>
              </a:ext>
            </a:extLst>
          </p:cNvPr>
          <p:cNvSpPr>
            <a:spLocks noGrp="1"/>
          </p:cNvSpPr>
          <p:nvPr/>
        </p:nvSpPr>
        <p:spPr>
          <a:xfrm>
            <a:off x="3352800" y="18478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D1D8AD-A563-43A2-B580-D910F2AF2714}"/>
              </a:ext>
            </a:extLst>
          </p:cNvPr>
          <p:cNvSpPr>
            <a:spLocks noGrp="1"/>
          </p:cNvSpPr>
          <p:nvPr/>
        </p:nvSpPr>
        <p:spPr>
          <a:xfrm>
            <a:off x="3352800" y="2190750"/>
            <a:ext cx="2000250" cy="5905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ED80C3-C74F-4DC1-A29D-C98F1F479179}"/>
              </a:ext>
            </a:extLst>
          </p:cNvPr>
          <p:cNvSpPr>
            <a:spLocks noGrp="1"/>
          </p:cNvSpPr>
          <p:nvPr/>
        </p:nvSpPr>
        <p:spPr>
          <a:xfrm>
            <a:off x="3543300" y="23622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08582D-3459-4D10-B98F-AD3D404F8BE2}"/>
              </a:ext>
            </a:extLst>
          </p:cNvPr>
          <p:cNvSpPr>
            <a:spLocks noGrp="1"/>
          </p:cNvSpPr>
          <p:nvPr/>
        </p:nvSpPr>
        <p:spPr>
          <a:xfrm>
            <a:off x="5467350" y="24765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702C93-DB0E-429D-96ED-DB791A4CCFB2}"/>
              </a:ext>
            </a:extLst>
          </p:cNvPr>
          <p:cNvSpPr>
            <a:spLocks noGrp="1"/>
          </p:cNvSpPr>
          <p:nvPr/>
        </p:nvSpPr>
        <p:spPr>
          <a:xfrm>
            <a:off x="6019800" y="18478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4038F4-2077-4D60-8468-6EF8D4608FC5}"/>
              </a:ext>
            </a:extLst>
          </p:cNvPr>
          <p:cNvSpPr>
            <a:spLocks noGrp="1"/>
          </p:cNvSpPr>
          <p:nvPr/>
        </p:nvSpPr>
        <p:spPr>
          <a:xfrm>
            <a:off x="6019800" y="2190750"/>
            <a:ext cx="2000250" cy="5905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D3F602-3DE8-4C60-BED0-1E40EF45CFDB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062CC1-167C-4E0D-ABEF-8133A8928EBE}"/>
              </a:ext>
            </a:extLst>
          </p:cNvPr>
          <p:cNvSpPr>
            <a:spLocks noGrp="1"/>
          </p:cNvSpPr>
          <p:nvPr/>
        </p:nvSpPr>
        <p:spPr>
          <a:xfrm>
            <a:off x="8134350" y="24765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ED0E06-0537-4436-9B62-1403BDB6C70B}"/>
              </a:ext>
            </a:extLst>
          </p:cNvPr>
          <p:cNvSpPr>
            <a:spLocks noGrp="1"/>
          </p:cNvSpPr>
          <p:nvPr/>
        </p:nvSpPr>
        <p:spPr>
          <a:xfrm>
            <a:off x="8686800" y="18478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355030-61B3-4E5C-BEA3-F79A340F7D09}"/>
              </a:ext>
            </a:extLst>
          </p:cNvPr>
          <p:cNvSpPr>
            <a:spLocks noGrp="1"/>
          </p:cNvSpPr>
          <p:nvPr/>
        </p:nvSpPr>
        <p:spPr>
          <a:xfrm>
            <a:off x="8686800" y="2190750"/>
            <a:ext cx="2000250" cy="5905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49B475-0514-4BDF-84CF-93D5650AFF3C}"/>
              </a:ext>
            </a:extLst>
          </p:cNvPr>
          <p:cNvSpPr>
            <a:spLocks noGrp="1"/>
          </p:cNvSpPr>
          <p:nvPr/>
        </p:nvSpPr>
        <p:spPr>
          <a:xfrm>
            <a:off x="8877300" y="23622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rerank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BF190E-5291-4739-9DC3-468BB93DE696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76C066-2A43-4C3E-85EE-38C88F69867A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2000250" cy="5905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FA1897-0A59-4925-8EFC-530B0FC55188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2803E6-EE52-4B40-9434-C6C2534EC465}"/>
              </a:ext>
            </a:extLst>
          </p:cNvPr>
          <p:cNvSpPr>
            <a:spLocks noGrp="1"/>
          </p:cNvSpPr>
          <p:nvPr/>
        </p:nvSpPr>
        <p:spPr>
          <a:xfrm>
            <a:off x="2800350" y="38100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B7B802-5E10-4182-B5D9-89E8F45CC245}"/>
              </a:ext>
            </a:extLst>
          </p:cNvPr>
          <p:cNvSpPr>
            <a:spLocks noGrp="1"/>
          </p:cNvSpPr>
          <p:nvPr/>
        </p:nvSpPr>
        <p:spPr>
          <a:xfrm>
            <a:off x="3352800" y="31813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92FA00-E9BF-44CB-844F-551421E9083D}"/>
              </a:ext>
            </a:extLst>
          </p:cNvPr>
          <p:cNvSpPr>
            <a:spLocks noGrp="1"/>
          </p:cNvSpPr>
          <p:nvPr/>
        </p:nvSpPr>
        <p:spPr>
          <a:xfrm>
            <a:off x="3352800" y="3524250"/>
            <a:ext cx="2000250" cy="5905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1E5916-92B5-4914-ABE1-AE654543E0A7}"/>
              </a:ext>
            </a:extLst>
          </p:cNvPr>
          <p:cNvSpPr>
            <a:spLocks noGrp="1"/>
          </p:cNvSpPr>
          <p:nvPr/>
        </p:nvSpPr>
        <p:spPr>
          <a:xfrm>
            <a:off x="3543300" y="3695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CFE042-3B8F-4BF6-9B3E-3638778AD047}"/>
              </a:ext>
            </a:extLst>
          </p:cNvPr>
          <p:cNvSpPr>
            <a:spLocks noGrp="1"/>
          </p:cNvSpPr>
          <p:nvPr/>
        </p:nvSpPr>
        <p:spPr>
          <a:xfrm>
            <a:off x="5467350" y="38100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2BEC18-C66F-48B7-A329-6A92C3A1AB83}"/>
              </a:ext>
            </a:extLst>
          </p:cNvPr>
          <p:cNvSpPr>
            <a:spLocks noGrp="1"/>
          </p:cNvSpPr>
          <p:nvPr/>
        </p:nvSpPr>
        <p:spPr>
          <a:xfrm>
            <a:off x="6019800" y="31813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DD934F-A256-432F-AA95-0BD2C8A91AD1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2000250" cy="5905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5B1E86-6900-49EB-A611-8AF5175E54AC}"/>
              </a:ext>
            </a:extLst>
          </p:cNvPr>
          <p:cNvSpPr>
            <a:spLocks noGrp="1"/>
          </p:cNvSpPr>
          <p:nvPr/>
        </p:nvSpPr>
        <p:spPr>
          <a:xfrm>
            <a:off x="6210300" y="3695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4BC5A3-BEB3-4082-A6E0-E1FFB5FA4BB4}"/>
              </a:ext>
            </a:extLst>
          </p:cNvPr>
          <p:cNvSpPr>
            <a:spLocks noGrp="1"/>
          </p:cNvSpPr>
          <p:nvPr/>
        </p:nvSpPr>
        <p:spPr>
          <a:xfrm>
            <a:off x="8134350" y="3810000"/>
            <a:ext cx="3048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155B08-5930-488E-8BCD-962BC4E9F66B}"/>
              </a:ext>
            </a:extLst>
          </p:cNvPr>
          <p:cNvSpPr>
            <a:spLocks noGrp="1"/>
          </p:cNvSpPr>
          <p:nvPr/>
        </p:nvSpPr>
        <p:spPr>
          <a:xfrm>
            <a:off x="8686800" y="31813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690FA2-52B7-4DDA-8C8D-756DCFE5B4D9}"/>
              </a:ext>
            </a:extLst>
          </p:cNvPr>
          <p:cNvSpPr>
            <a:spLocks noGrp="1"/>
          </p:cNvSpPr>
          <p:nvPr/>
        </p:nvSpPr>
        <p:spPr>
          <a:xfrm>
            <a:off x="8686800" y="3524250"/>
            <a:ext cx="2000250" cy="5905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901F36-2A34-4A74-BFD7-520A9FE6CE92}"/>
              </a:ext>
            </a:extLst>
          </p:cNvPr>
          <p:cNvSpPr>
            <a:spLocks noGrp="1"/>
          </p:cNvSpPr>
          <p:nvPr/>
        </p:nvSpPr>
        <p:spPr>
          <a:xfrm>
            <a:off x="8877300" y="3695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</p:spTree>
    <p:extLst>
      <p:ext uri="{BB962C8B-B14F-4D97-AF65-F5344CB8AC3E}">
        <p14:creationId xmlns:p14="http://schemas.microsoft.com/office/powerpoint/2010/main" val="1071463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4E4E833-6E8B-4040-BCB9-739F712A0F33}"/>
              </a:ext>
            </a:extLst>
          </p:cNvPr>
          <p:cNvSpPr>
            <a:spLocks noGrp="1"/>
          </p:cNvSpPr>
          <p:nvPr/>
        </p:nvSpPr>
        <p:spPr>
          <a:xfrm>
            <a:off x="0" y="30480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69E6EB-0087-48DA-8847-C08ADA6421D2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SEVEN CELLS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C2B8C6-DBB5-4EC2-A10D-D82D28AFE7C3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FA6F6A-3FCF-4CE0-ACDC-03DBC283B10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harness wins every domain and the overall table.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319B1A-8F06-4CE8-B755-3C093834FEF3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Overall accuracy, n=148. Harness +2 is the strongest matched cell at 50.0%.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F4CF36-5344-4DE6-8E3B-63C594810554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5D65F0-B9FF-497E-86D2-F99F634D3C3A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VLM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D420C8-19A9-4940-B5EE-B74DE99D93E9}"/>
              </a:ext>
            </a:extLst>
          </p:cNvPr>
          <p:cNvSpPr>
            <a:spLocks noGrp="1"/>
          </p:cNvSpPr>
          <p:nvPr/>
        </p:nvSpPr>
        <p:spPr>
          <a:xfrm>
            <a:off x="2628900" y="209550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8A2CB2-B00D-481A-B1C0-525D0D1F336F}"/>
              </a:ext>
            </a:extLst>
          </p:cNvPr>
          <p:cNvSpPr>
            <a:spLocks noGrp="1"/>
          </p:cNvSpPr>
          <p:nvPr/>
        </p:nvSpPr>
        <p:spPr>
          <a:xfrm>
            <a:off x="2628900" y="2095500"/>
            <a:ext cx="4533900" cy="2095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7C5F42-47F6-4BFE-A120-CE5D3728C8D9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38%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0424C-BAF4-4DEE-B53C-9D6543F23EDF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4680B3-EA25-45D2-8C75-7504BF0ABEFA}"/>
              </a:ext>
            </a:extLst>
          </p:cNvPr>
          <p:cNvSpPr>
            <a:spLocks noGrp="1"/>
          </p:cNvSpPr>
          <p:nvPr/>
        </p:nvSpPr>
        <p:spPr>
          <a:xfrm>
            <a:off x="2628900" y="257175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7053E2-2414-41A0-B288-D1B8E325BF03}"/>
              </a:ext>
            </a:extLst>
          </p:cNvPr>
          <p:cNvSpPr>
            <a:spLocks noGrp="1"/>
          </p:cNvSpPr>
          <p:nvPr/>
        </p:nvSpPr>
        <p:spPr>
          <a:xfrm>
            <a:off x="2628900" y="2571750"/>
            <a:ext cx="1619250" cy="2095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54BA54-1A5B-46EF-8D75-5365997AF0D4}"/>
              </a:ext>
            </a:extLst>
          </p:cNvPr>
          <p:cNvSpPr>
            <a:spLocks noGrp="1"/>
          </p:cNvSpPr>
          <p:nvPr/>
        </p:nvSpPr>
        <p:spPr>
          <a:xfrm>
            <a:off x="9201150" y="25527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AAB542-540A-4F8A-BB03-4D22B170E15D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045511-C209-4F86-8494-96628F3A9330}"/>
              </a:ext>
            </a:extLst>
          </p:cNvPr>
          <p:cNvSpPr>
            <a:spLocks noGrp="1"/>
          </p:cNvSpPr>
          <p:nvPr/>
        </p:nvSpPr>
        <p:spPr>
          <a:xfrm>
            <a:off x="2628900" y="304800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04B548-E56A-4189-8772-BCF553BEA86F}"/>
              </a:ext>
            </a:extLst>
          </p:cNvPr>
          <p:cNvSpPr>
            <a:spLocks noGrp="1"/>
          </p:cNvSpPr>
          <p:nvPr/>
        </p:nvSpPr>
        <p:spPr>
          <a:xfrm>
            <a:off x="2628900" y="3048000"/>
            <a:ext cx="1703211" cy="209550"/>
          </a:xfrm>
          <a:prstGeom prst="rect">
            <a:avLst/>
          </a:prstGeom>
          <a:solidFill>
            <a:srgbClr val="9240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68D69-3143-48C8-A74E-0B3C943E9B5C}"/>
              </a:ext>
            </a:extLst>
          </p:cNvPr>
          <p:cNvSpPr>
            <a:spLocks noGrp="1"/>
          </p:cNvSpPr>
          <p:nvPr/>
        </p:nvSpPr>
        <p:spPr>
          <a:xfrm>
            <a:off x="9201150" y="30289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203578-00FC-4E94-9159-73FDFC90BE7E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96B03D-F6AE-49BE-8058-EE4AC1682951}"/>
              </a:ext>
            </a:extLst>
          </p:cNvPr>
          <p:cNvSpPr>
            <a:spLocks noGrp="1"/>
          </p:cNvSpPr>
          <p:nvPr/>
        </p:nvSpPr>
        <p:spPr>
          <a:xfrm>
            <a:off x="2628900" y="352425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121F73-29FB-4119-AE12-934F468AB361}"/>
              </a:ext>
            </a:extLst>
          </p:cNvPr>
          <p:cNvSpPr>
            <a:spLocks noGrp="1"/>
          </p:cNvSpPr>
          <p:nvPr/>
        </p:nvSpPr>
        <p:spPr>
          <a:xfrm>
            <a:off x="2628900" y="3524250"/>
            <a:ext cx="971550" cy="209550"/>
          </a:xfrm>
          <a:prstGeom prst="rect">
            <a:avLst/>
          </a:prstGeom>
          <a:solidFill>
            <a:srgbClr val="991B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676FAD-0D0A-4B0F-BCE6-96F5D031A827}"/>
              </a:ext>
            </a:extLst>
          </p:cNvPr>
          <p:cNvSpPr>
            <a:spLocks noGrp="1"/>
          </p:cNvSpPr>
          <p:nvPr/>
        </p:nvSpPr>
        <p:spPr>
          <a:xfrm>
            <a:off x="9201150" y="35052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8.1%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AC28C4-7B17-47DC-A22A-B210207D919F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F03697-4EDC-4FF8-8C9A-1D8B34E4F454}"/>
              </a:ext>
            </a:extLst>
          </p:cNvPr>
          <p:cNvSpPr>
            <a:spLocks noGrp="1"/>
          </p:cNvSpPr>
          <p:nvPr/>
        </p:nvSpPr>
        <p:spPr>
          <a:xfrm>
            <a:off x="2628900" y="400050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46967-573B-4BFD-9A30-07D0D7088EF8}"/>
              </a:ext>
            </a:extLst>
          </p:cNvPr>
          <p:cNvSpPr>
            <a:spLocks noGrp="1"/>
          </p:cNvSpPr>
          <p:nvPr/>
        </p:nvSpPr>
        <p:spPr>
          <a:xfrm>
            <a:off x="2628900" y="4000500"/>
            <a:ext cx="815622" cy="209550"/>
          </a:xfrm>
          <a:prstGeom prst="rect">
            <a:avLst/>
          </a:prstGeom>
          <a:solidFill>
            <a:srgbClr val="7F1D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159F7B-AEC1-4347-BC68-A0E0BC601098}"/>
              </a:ext>
            </a:extLst>
          </p:cNvPr>
          <p:cNvSpPr>
            <a:spLocks noGrp="1"/>
          </p:cNvSpPr>
          <p:nvPr/>
        </p:nvSpPr>
        <p:spPr>
          <a:xfrm>
            <a:off x="9201150" y="39814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6.8%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2E46E9-337E-411A-9D08-F4828F6EDFEF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8B0601-4CD7-4E4D-A0EE-8FDE068D5DBC}"/>
              </a:ext>
            </a:extLst>
          </p:cNvPr>
          <p:cNvSpPr>
            <a:spLocks noGrp="1"/>
          </p:cNvSpPr>
          <p:nvPr/>
        </p:nvSpPr>
        <p:spPr>
          <a:xfrm>
            <a:off x="2628900" y="447675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EFC0F2-CFB3-4E7E-9AC4-BF09FC77B87B}"/>
              </a:ext>
            </a:extLst>
          </p:cNvPr>
          <p:cNvSpPr>
            <a:spLocks noGrp="1"/>
          </p:cNvSpPr>
          <p:nvPr/>
        </p:nvSpPr>
        <p:spPr>
          <a:xfrm>
            <a:off x="2628900" y="4476750"/>
            <a:ext cx="5997222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EB57DD-0668-4AB1-BDF2-9D7F2169F859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  <a:r>
              <a:rPr lang="en-US" sz="9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  <a:r>
              <a:rPr sz="9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3A553-5BE9-460B-85A1-A448EA3AA70C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0D90C-811E-4B91-A6FB-246F25E4C793}"/>
              </a:ext>
            </a:extLst>
          </p:cNvPr>
          <p:cNvSpPr>
            <a:spLocks noGrp="1"/>
          </p:cNvSpPr>
          <p:nvPr/>
        </p:nvSpPr>
        <p:spPr>
          <a:xfrm>
            <a:off x="2628900" y="495300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CFB564-B9A8-403F-80FD-0174ED65F3FB}"/>
              </a:ext>
            </a:extLst>
          </p:cNvPr>
          <p:cNvSpPr>
            <a:spLocks noGrp="1"/>
          </p:cNvSpPr>
          <p:nvPr/>
        </p:nvSpPr>
        <p:spPr>
          <a:xfrm>
            <a:off x="2628900" y="4953000"/>
            <a:ext cx="5997222" cy="22860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B0FC49-53AC-41C1-B3A4-0CB2B9A46350}"/>
              </a:ext>
            </a:extLst>
          </p:cNvPr>
          <p:cNvSpPr>
            <a:spLocks noGrp="1"/>
          </p:cNvSpPr>
          <p:nvPr/>
        </p:nvSpPr>
        <p:spPr>
          <a:xfrm>
            <a:off x="9201150" y="49339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9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58</a:t>
            </a:r>
            <a:r>
              <a:rPr sz="9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69884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8133A68-A357-4473-947B-E315A5F992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9DF97D-6032-4C62-9AA9-E43CC37B729D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78BE41-9670-4557-A0AC-2EC959E06E2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99459-950B-433A-A913-54EDAE46CC5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cost frontier is not close: $0.015 per correct vs $0.24.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D280E9-6459-44D0-9593-B996188136A3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Harness +2 is 12.1x cheaper than ReAct +2 and 15.7x cheaper than ReAct +4 per correct answer.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A31FCE-DA3F-4FBE-A888-C43EA700B34A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01ADEC-606C-4B7D-8A9E-A46BF3EFCB38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8572500" cy="1905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71869D-36D5-4981-AD87-1DB3AA9FFD64}"/>
              </a:ext>
            </a:extLst>
          </p:cNvPr>
          <p:cNvSpPr>
            <a:spLocks noGrp="1"/>
          </p:cNvSpPr>
          <p:nvPr/>
        </p:nvSpPr>
        <p:spPr>
          <a:xfrm>
            <a:off x="1123950" y="2095500"/>
            <a:ext cx="19050" cy="285750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ACAB33-688E-419C-824A-797CA1410A9D}"/>
              </a:ext>
            </a:extLst>
          </p:cNvPr>
          <p:cNvSpPr>
            <a:spLocks noGrp="1"/>
          </p:cNvSpPr>
          <p:nvPr/>
        </p:nvSpPr>
        <p:spPr>
          <a:xfrm>
            <a:off x="8362950" y="51816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CF4DCC-6015-4B9B-A73E-07F3C40E91A5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214D62-433B-4180-AF39-806C896E83FA}"/>
              </a:ext>
            </a:extLst>
          </p:cNvPr>
          <p:cNvSpPr>
            <a:spLocks noGrp="1"/>
          </p:cNvSpPr>
          <p:nvPr/>
        </p:nvSpPr>
        <p:spPr>
          <a:xfrm>
            <a:off x="1465326" y="2922443"/>
            <a:ext cx="133350" cy="133350"/>
          </a:xfrm>
          <a:prstGeom prst="ellipse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154D9A-8D51-48A3-9A69-BBC8BD964BC1}"/>
              </a:ext>
            </a:extLst>
          </p:cNvPr>
          <p:cNvSpPr>
            <a:spLocks noGrp="1"/>
          </p:cNvSpPr>
          <p:nvPr/>
        </p:nvSpPr>
        <p:spPr>
          <a:xfrm>
            <a:off x="1646301" y="2893868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VLM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D9E1C6-AB42-42E4-819E-AAACF0A1BDE3}"/>
              </a:ext>
            </a:extLst>
          </p:cNvPr>
          <p:cNvSpPr>
            <a:spLocks noGrp="1"/>
          </p:cNvSpPr>
          <p:nvPr/>
        </p:nvSpPr>
        <p:spPr>
          <a:xfrm>
            <a:off x="7387209" y="4184939"/>
            <a:ext cx="133350" cy="133350"/>
          </a:xfrm>
          <a:prstGeom prst="ellipse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96986A-82BD-4BE6-8976-47A61F38C2D9}"/>
              </a:ext>
            </a:extLst>
          </p:cNvPr>
          <p:cNvSpPr>
            <a:spLocks noGrp="1"/>
          </p:cNvSpPr>
          <p:nvPr/>
        </p:nvSpPr>
        <p:spPr>
          <a:xfrm>
            <a:off x="7568184" y="4156364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C8602E-86BC-4687-967D-2BFE5298B1BC}"/>
              </a:ext>
            </a:extLst>
          </p:cNvPr>
          <p:cNvSpPr>
            <a:spLocks noGrp="1"/>
          </p:cNvSpPr>
          <p:nvPr/>
        </p:nvSpPr>
        <p:spPr>
          <a:xfrm>
            <a:off x="9297162" y="4148570"/>
            <a:ext cx="133350" cy="133350"/>
          </a:xfrm>
          <a:prstGeom prst="ellipse">
            <a:avLst/>
          </a:prstGeom>
          <a:solidFill>
            <a:srgbClr val="9240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FC496E-4849-44A1-A359-4DBABB24D25B}"/>
              </a:ext>
            </a:extLst>
          </p:cNvPr>
          <p:cNvSpPr>
            <a:spLocks noGrp="1"/>
          </p:cNvSpPr>
          <p:nvPr/>
        </p:nvSpPr>
        <p:spPr>
          <a:xfrm>
            <a:off x="9478137" y="411999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7AEC1DF-2F73-4C2E-84F6-C9097C322EBA}"/>
              </a:ext>
            </a:extLst>
          </p:cNvPr>
          <p:cNvSpPr>
            <a:spLocks noGrp="1"/>
          </p:cNvSpPr>
          <p:nvPr/>
        </p:nvSpPr>
        <p:spPr>
          <a:xfrm>
            <a:off x="5322951" y="4465493"/>
            <a:ext cx="133350" cy="133350"/>
          </a:xfrm>
          <a:prstGeom prst="ellipse">
            <a:avLst/>
          </a:prstGeom>
          <a:solidFill>
            <a:srgbClr val="991B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403CC9-CE07-42B5-AD3F-BB6A10B960A2}"/>
              </a:ext>
            </a:extLst>
          </p:cNvPr>
          <p:cNvSpPr>
            <a:spLocks noGrp="1"/>
          </p:cNvSpPr>
          <p:nvPr/>
        </p:nvSpPr>
        <p:spPr>
          <a:xfrm>
            <a:off x="5503926" y="4436918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420F91-0683-401E-A084-545369461568}"/>
              </a:ext>
            </a:extLst>
          </p:cNvPr>
          <p:cNvSpPr>
            <a:spLocks noGrp="1"/>
          </p:cNvSpPr>
          <p:nvPr/>
        </p:nvSpPr>
        <p:spPr>
          <a:xfrm>
            <a:off x="6320790" y="4533034"/>
            <a:ext cx="133350" cy="133350"/>
          </a:xfrm>
          <a:prstGeom prst="ellipse">
            <a:avLst/>
          </a:prstGeom>
          <a:solidFill>
            <a:srgbClr val="7F1D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8AE64E-2199-4E20-B712-AEA695C307A8}"/>
              </a:ext>
            </a:extLst>
          </p:cNvPr>
          <p:cNvSpPr>
            <a:spLocks noGrp="1"/>
          </p:cNvSpPr>
          <p:nvPr/>
        </p:nvSpPr>
        <p:spPr>
          <a:xfrm>
            <a:off x="6501765" y="4504459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AC0CC01-AC24-4C0A-A165-3B6402326290}"/>
              </a:ext>
            </a:extLst>
          </p:cNvPr>
          <p:cNvSpPr>
            <a:spLocks noGrp="1"/>
          </p:cNvSpPr>
          <p:nvPr/>
        </p:nvSpPr>
        <p:spPr>
          <a:xfrm>
            <a:off x="1581912" y="2288598"/>
            <a:ext cx="133350" cy="133350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79FE1D-AD86-43AC-A7A9-47ED6313CDF0}"/>
              </a:ext>
            </a:extLst>
          </p:cNvPr>
          <p:cNvSpPr>
            <a:spLocks noGrp="1"/>
          </p:cNvSpPr>
          <p:nvPr/>
        </p:nvSpPr>
        <p:spPr>
          <a:xfrm>
            <a:off x="1762887" y="2260023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3A714C2-25A9-45D2-9E38-18F6D2611FE8}"/>
              </a:ext>
            </a:extLst>
          </p:cNvPr>
          <p:cNvSpPr>
            <a:spLocks noGrp="1"/>
          </p:cNvSpPr>
          <p:nvPr/>
        </p:nvSpPr>
        <p:spPr>
          <a:xfrm>
            <a:off x="1660779" y="2605520"/>
            <a:ext cx="133350" cy="133350"/>
          </a:xfrm>
          <a:prstGeom prst="ellipse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DE89EC-B3D2-43DC-8EC0-AC0CD1FA1A14}"/>
              </a:ext>
            </a:extLst>
          </p:cNvPr>
          <p:cNvSpPr>
            <a:spLocks noGrp="1"/>
          </p:cNvSpPr>
          <p:nvPr/>
        </p:nvSpPr>
        <p:spPr>
          <a:xfrm>
            <a:off x="1841754" y="257694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</p:spTree>
    <p:extLst>
      <p:ext uri="{BB962C8B-B14F-4D97-AF65-F5344CB8AC3E}">
        <p14:creationId xmlns:p14="http://schemas.microsoft.com/office/powerpoint/2010/main" val="1210687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AEDDC09-A64D-4F5E-80F9-5856DE3CCE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C05A38-D53D-49B9-8207-47F204D47BA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8653D6-865B-46D6-8CD6-BD82733B53CC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DE3E3D-40B0-476A-8F33-BBE762D6175D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state machine is also the fastest method.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83044A-381D-43B8-AB78-A52CE002DA7A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Routing and layout are cached or deterministic; ReAct pays for repeated LLM round trips.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403065-B4EF-4777-BC9C-49C18DB003CC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10F24B-19ED-44EB-B8F9-2C8CD18D3050}"/>
              </a:ext>
            </a:extLst>
          </p:cNvPr>
          <p:cNvSpPr>
            <a:spLocks noGrp="1"/>
          </p:cNvSpPr>
          <p:nvPr/>
        </p:nvSpPr>
        <p:spPr>
          <a:xfrm>
            <a:off x="819150" y="20764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VLM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6AD8B-824E-4697-8CA0-9DF13A4A39F3}"/>
              </a:ext>
            </a:extLst>
          </p:cNvPr>
          <p:cNvSpPr>
            <a:spLocks noGrp="1"/>
          </p:cNvSpPr>
          <p:nvPr/>
        </p:nvSpPr>
        <p:spPr>
          <a:xfrm>
            <a:off x="2628900" y="209550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919B64-9A71-4116-AD3C-55C14E012E2D}"/>
              </a:ext>
            </a:extLst>
          </p:cNvPr>
          <p:cNvSpPr>
            <a:spLocks noGrp="1"/>
          </p:cNvSpPr>
          <p:nvPr/>
        </p:nvSpPr>
        <p:spPr>
          <a:xfrm>
            <a:off x="2628900" y="2095500"/>
            <a:ext cx="852686" cy="2095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0A3D60-B2E5-4309-B831-167507E3FBFB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3.0s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4CDDF9-E428-42AA-BA0B-F461E06D3B5D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987E5B-7747-4597-A838-3C0B783E89F1}"/>
              </a:ext>
            </a:extLst>
          </p:cNvPr>
          <p:cNvSpPr>
            <a:spLocks noGrp="1"/>
          </p:cNvSpPr>
          <p:nvPr/>
        </p:nvSpPr>
        <p:spPr>
          <a:xfrm>
            <a:off x="2628900" y="257175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CABA7-064E-49F9-A174-3C0D32E5807E}"/>
              </a:ext>
            </a:extLst>
          </p:cNvPr>
          <p:cNvSpPr>
            <a:spLocks noGrp="1"/>
          </p:cNvSpPr>
          <p:nvPr/>
        </p:nvSpPr>
        <p:spPr>
          <a:xfrm>
            <a:off x="2628900" y="2571750"/>
            <a:ext cx="4576080" cy="20955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CCD000-3698-4A28-AB73-97DCBBB8385D}"/>
              </a:ext>
            </a:extLst>
          </p:cNvPr>
          <p:cNvSpPr>
            <a:spLocks noGrp="1"/>
          </p:cNvSpPr>
          <p:nvPr/>
        </p:nvSpPr>
        <p:spPr>
          <a:xfrm>
            <a:off x="9201150" y="25527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9551E6-7B3E-4C8F-8669-3A8189A339DC}"/>
              </a:ext>
            </a:extLst>
          </p:cNvPr>
          <p:cNvSpPr>
            <a:spLocks noGrp="1"/>
          </p:cNvSpPr>
          <p:nvPr/>
        </p:nvSpPr>
        <p:spPr>
          <a:xfrm>
            <a:off x="819150" y="3028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1824FD-60FE-48C7-93D7-198CDC5E3DA8}"/>
              </a:ext>
            </a:extLst>
          </p:cNvPr>
          <p:cNvSpPr>
            <a:spLocks noGrp="1"/>
          </p:cNvSpPr>
          <p:nvPr/>
        </p:nvSpPr>
        <p:spPr>
          <a:xfrm>
            <a:off x="2628900" y="304800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74BC0A-B323-47AD-B937-63002FF27ACF}"/>
              </a:ext>
            </a:extLst>
          </p:cNvPr>
          <p:cNvSpPr>
            <a:spLocks noGrp="1"/>
          </p:cNvSpPr>
          <p:nvPr/>
        </p:nvSpPr>
        <p:spPr>
          <a:xfrm>
            <a:off x="2628900" y="3048000"/>
            <a:ext cx="5997222" cy="209550"/>
          </a:xfrm>
          <a:prstGeom prst="rect">
            <a:avLst/>
          </a:prstGeom>
          <a:solidFill>
            <a:srgbClr val="92400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C7B265-7641-4A5C-A526-04F8DBB3AE51}"/>
              </a:ext>
            </a:extLst>
          </p:cNvPr>
          <p:cNvSpPr>
            <a:spLocks noGrp="1"/>
          </p:cNvSpPr>
          <p:nvPr/>
        </p:nvSpPr>
        <p:spPr>
          <a:xfrm>
            <a:off x="9201150" y="30289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A3EC5B-B638-422F-8BE3-5F148614F3AE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1FE467-D535-4934-9D49-08DDAB4E7B52}"/>
              </a:ext>
            </a:extLst>
          </p:cNvPr>
          <p:cNvSpPr>
            <a:spLocks noGrp="1"/>
          </p:cNvSpPr>
          <p:nvPr/>
        </p:nvSpPr>
        <p:spPr>
          <a:xfrm>
            <a:off x="2628900" y="352425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204B36-2496-4860-B42E-135E4A609F2B}"/>
              </a:ext>
            </a:extLst>
          </p:cNvPr>
          <p:cNvSpPr>
            <a:spLocks noGrp="1"/>
          </p:cNvSpPr>
          <p:nvPr/>
        </p:nvSpPr>
        <p:spPr>
          <a:xfrm>
            <a:off x="2628900" y="3524250"/>
            <a:ext cx="1534834" cy="209550"/>
          </a:xfrm>
          <a:prstGeom prst="rect">
            <a:avLst/>
          </a:prstGeom>
          <a:solidFill>
            <a:srgbClr val="991B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9B122D-FF88-43C6-8120-DD3DE8793652}"/>
              </a:ext>
            </a:extLst>
          </p:cNvPr>
          <p:cNvSpPr>
            <a:spLocks noGrp="1"/>
          </p:cNvSpPr>
          <p:nvPr/>
        </p:nvSpPr>
        <p:spPr>
          <a:xfrm>
            <a:off x="9201150" y="35052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5.4s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912E96-848B-4AEC-B9C2-AE23585DD5BE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BF5AE1-A64E-4A6D-96CA-CA15DD1B9C28}"/>
              </a:ext>
            </a:extLst>
          </p:cNvPr>
          <p:cNvSpPr>
            <a:spLocks noGrp="1"/>
          </p:cNvSpPr>
          <p:nvPr/>
        </p:nvSpPr>
        <p:spPr>
          <a:xfrm>
            <a:off x="2628900" y="400050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177CD2-1D5C-48BC-A331-5217BE02E4F4}"/>
              </a:ext>
            </a:extLst>
          </p:cNvPr>
          <p:cNvSpPr>
            <a:spLocks noGrp="1"/>
          </p:cNvSpPr>
          <p:nvPr/>
        </p:nvSpPr>
        <p:spPr>
          <a:xfrm>
            <a:off x="2628900" y="4000500"/>
            <a:ext cx="1648526" cy="209550"/>
          </a:xfrm>
          <a:prstGeom prst="rect">
            <a:avLst/>
          </a:prstGeom>
          <a:solidFill>
            <a:srgbClr val="7F1D1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723984-5D35-4FD7-8574-599EC2CECECE}"/>
              </a:ext>
            </a:extLst>
          </p:cNvPr>
          <p:cNvSpPr>
            <a:spLocks noGrp="1"/>
          </p:cNvSpPr>
          <p:nvPr/>
        </p:nvSpPr>
        <p:spPr>
          <a:xfrm>
            <a:off x="9201150" y="39814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5.8s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1509E2-DEFF-4D5D-8905-FFF9CB15E08B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84CD41-E831-437F-90A1-186FA3944E22}"/>
              </a:ext>
            </a:extLst>
          </p:cNvPr>
          <p:cNvSpPr>
            <a:spLocks noGrp="1"/>
          </p:cNvSpPr>
          <p:nvPr/>
        </p:nvSpPr>
        <p:spPr>
          <a:xfrm>
            <a:off x="2628900" y="447675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58FD61-9A0C-4731-A085-7363C6137BF5}"/>
              </a:ext>
            </a:extLst>
          </p:cNvPr>
          <p:cNvSpPr>
            <a:spLocks noGrp="1"/>
          </p:cNvSpPr>
          <p:nvPr/>
        </p:nvSpPr>
        <p:spPr>
          <a:xfrm>
            <a:off x="2628900" y="4476750"/>
            <a:ext cx="710571" cy="2095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39B5CF-0ED0-4F22-B9AF-1AA244D32DC2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2.5s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97EAD0-E511-420C-B9B4-EF7C7C210191}"/>
              </a:ext>
            </a:extLst>
          </p:cNvPr>
          <p:cNvSpPr>
            <a:spLocks noGrp="1"/>
          </p:cNvSpPr>
          <p:nvPr/>
        </p:nvSpPr>
        <p:spPr>
          <a:xfrm>
            <a:off x="819150" y="4933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5B974C-FD50-400D-ADE0-8295A8662243}"/>
              </a:ext>
            </a:extLst>
          </p:cNvPr>
          <p:cNvSpPr>
            <a:spLocks noGrp="1"/>
          </p:cNvSpPr>
          <p:nvPr/>
        </p:nvSpPr>
        <p:spPr>
          <a:xfrm>
            <a:off x="2628900" y="4953000"/>
            <a:ext cx="6477000" cy="20955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974495-3837-46D8-A14D-62882A69F712}"/>
              </a:ext>
            </a:extLst>
          </p:cNvPr>
          <p:cNvSpPr>
            <a:spLocks noGrp="1"/>
          </p:cNvSpPr>
          <p:nvPr/>
        </p:nvSpPr>
        <p:spPr>
          <a:xfrm>
            <a:off x="2628900" y="4953000"/>
            <a:ext cx="710571" cy="2095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3B47A32-3D1E-4238-A8EB-E7373A6185D6}"/>
              </a:ext>
            </a:extLst>
          </p:cNvPr>
          <p:cNvSpPr>
            <a:spLocks noGrp="1"/>
          </p:cNvSpPr>
          <p:nvPr/>
        </p:nvSpPr>
        <p:spPr>
          <a:xfrm>
            <a:off x="9201150" y="49339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2.5s</a:t>
            </a:r>
          </a:p>
        </p:txBody>
      </p:sp>
    </p:spTree>
    <p:extLst>
      <p:ext uri="{BB962C8B-B14F-4D97-AF65-F5344CB8AC3E}">
        <p14:creationId xmlns:p14="http://schemas.microsoft.com/office/powerpoint/2010/main" val="1438433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A47E59D-037B-4738-B3DC-EC4C1BF312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C1694-8B7C-4DBA-95E7-54A35EAD705D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CHAPTER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AD2A07-0432-4ECA-A560-1AE0F58C80ED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AB99EA-6F71-4E89-A56D-294628E48208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Mechanism and qualitative examples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71044D-3A5B-45B6-AB65-9BD426A832E0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Why the harness wins: region localization, verifier discipline, and exact evidence-aware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CFE1D7-0188-48D1-9126-76952DC382F8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7AD687-6425-4464-B4C1-DBA48A2783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098F6-3EA5-45FB-9022-80A6EEDC4904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CHAPTER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64D83A-5935-4831-86AD-35D7F50E985F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2476500" cy="190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A1FEBD-A9F7-4EC4-A942-B032EB173714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8382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Mechanism and qualitative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209E91-32DB-4525-8F4C-530C35ED6A10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Why the harness wins: region localization, verifier discipline, and exact evidence-aware answers.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93A18D-91C0-4E96-8236-66E45A09F6B0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74815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AFB95D2-6FD0-458B-BF4A-F6D1CC14D6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D18B0B-8264-4EDC-86FF-C260309ADF70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MECHANISM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1F6DC0-4E54-49C7-9552-AFACE2A658C7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EE0C2-D9B2-41B6-9D45-C54334D3CFB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gap appears at the region level, not the page level.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D0057C-3EC5-451B-9919-BB2EF95CB436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Everyone roughly finds pages; FocusParse finds the answer region.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ADAF49-4494-477A-8961-EE55089C47A4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E79BC-9315-4D0F-9E1D-F13E381496BA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Mean bbox IoU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974419-E089-4381-BEF3-81BF8C6B40F8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 recall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9E2263-B448-4DDA-91F2-6B997E2BC4BD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F32FBB-6601-47CE-8E47-6530A317F92A}"/>
              </a:ext>
            </a:extLst>
          </p:cNvPr>
          <p:cNvSpPr>
            <a:spLocks noGrp="1"/>
          </p:cNvSpPr>
          <p:nvPr/>
        </p:nvSpPr>
        <p:spPr>
          <a:xfrm>
            <a:off x="2628900" y="2419350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F20C5-1057-45DB-A6C5-EB9FC5B0FABB}"/>
              </a:ext>
            </a:extLst>
          </p:cNvPr>
          <p:cNvSpPr>
            <a:spLocks noGrp="1"/>
          </p:cNvSpPr>
          <p:nvPr/>
        </p:nvSpPr>
        <p:spPr>
          <a:xfrm>
            <a:off x="2628900" y="2419350"/>
            <a:ext cx="232410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7A662F-4FC1-4A7D-A88C-056F0ABF03BE}"/>
              </a:ext>
            </a:extLst>
          </p:cNvPr>
          <p:cNvSpPr>
            <a:spLocks noGrp="1"/>
          </p:cNvSpPr>
          <p:nvPr/>
        </p:nvSpPr>
        <p:spPr>
          <a:xfrm>
            <a:off x="5581650" y="24003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6.1%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05EB1E-86AD-4DBE-93EA-4E6ED2D9912E}"/>
              </a:ext>
            </a:extLst>
          </p:cNvPr>
          <p:cNvSpPr>
            <a:spLocks noGrp="1"/>
          </p:cNvSpPr>
          <p:nvPr/>
        </p:nvSpPr>
        <p:spPr>
          <a:xfrm>
            <a:off x="819150" y="29241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852734-8F33-4592-BD09-22186CE24BE4}"/>
              </a:ext>
            </a:extLst>
          </p:cNvPr>
          <p:cNvSpPr>
            <a:spLocks noGrp="1"/>
          </p:cNvSpPr>
          <p:nvPr/>
        </p:nvSpPr>
        <p:spPr>
          <a:xfrm>
            <a:off x="2628900" y="2943225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2EC87E-9AF8-412E-8586-057B75E94FE0}"/>
              </a:ext>
            </a:extLst>
          </p:cNvPr>
          <p:cNvSpPr>
            <a:spLocks noGrp="1"/>
          </p:cNvSpPr>
          <p:nvPr/>
        </p:nvSpPr>
        <p:spPr>
          <a:xfrm>
            <a:off x="2628900" y="2943225"/>
            <a:ext cx="1211580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D2EB42-DD5B-454F-BA02-BEA8817493EA}"/>
              </a:ext>
            </a:extLst>
          </p:cNvPr>
          <p:cNvSpPr>
            <a:spLocks noGrp="1"/>
          </p:cNvSpPr>
          <p:nvPr/>
        </p:nvSpPr>
        <p:spPr>
          <a:xfrm>
            <a:off x="5581650" y="2924175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32%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E26DF6-5480-4504-83F0-DC0E405464A2}"/>
              </a:ext>
            </a:extLst>
          </p:cNvPr>
          <p:cNvSpPr>
            <a:spLocks noGrp="1"/>
          </p:cNvSpPr>
          <p:nvPr/>
        </p:nvSpPr>
        <p:spPr>
          <a:xfrm>
            <a:off x="819150" y="34480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C4DBE6-63BA-4928-ADEF-F673B6CE4760}"/>
              </a:ext>
            </a:extLst>
          </p:cNvPr>
          <p:cNvSpPr>
            <a:spLocks noGrp="1"/>
          </p:cNvSpPr>
          <p:nvPr/>
        </p:nvSpPr>
        <p:spPr>
          <a:xfrm>
            <a:off x="2628900" y="3467100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43A73A-054C-4AE4-B254-4854791BBC09}"/>
              </a:ext>
            </a:extLst>
          </p:cNvPr>
          <p:cNvSpPr>
            <a:spLocks noGrp="1"/>
          </p:cNvSpPr>
          <p:nvPr/>
        </p:nvSpPr>
        <p:spPr>
          <a:xfrm>
            <a:off x="2628900" y="3467100"/>
            <a:ext cx="1116330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852D6A-54E5-4BF9-BCF7-FC1948DCB9C4}"/>
              </a:ext>
            </a:extLst>
          </p:cNvPr>
          <p:cNvSpPr>
            <a:spLocks noGrp="1"/>
          </p:cNvSpPr>
          <p:nvPr/>
        </p:nvSpPr>
        <p:spPr>
          <a:xfrm>
            <a:off x="5581650" y="34480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29%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B3DAF-B3AA-42CE-B7AE-DF22ADE75A81}"/>
              </a:ext>
            </a:extLst>
          </p:cNvPr>
          <p:cNvSpPr>
            <a:spLocks noGrp="1"/>
          </p:cNvSpPr>
          <p:nvPr/>
        </p:nvSpPr>
        <p:spPr>
          <a:xfrm>
            <a:off x="819150" y="397192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1476E4-C39E-4122-999C-CCF975BA985D}"/>
              </a:ext>
            </a:extLst>
          </p:cNvPr>
          <p:cNvSpPr>
            <a:spLocks noGrp="1"/>
          </p:cNvSpPr>
          <p:nvPr/>
        </p:nvSpPr>
        <p:spPr>
          <a:xfrm>
            <a:off x="2628900" y="3990975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8B1E37-9D2A-440C-A589-D9A656670294}"/>
              </a:ext>
            </a:extLst>
          </p:cNvPr>
          <p:cNvSpPr>
            <a:spLocks noGrp="1"/>
          </p:cNvSpPr>
          <p:nvPr/>
        </p:nvSpPr>
        <p:spPr>
          <a:xfrm>
            <a:off x="2628900" y="3990975"/>
            <a:ext cx="2697480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47274B-FF01-43E2-B3A8-675F68823FDA}"/>
              </a:ext>
            </a:extLst>
          </p:cNvPr>
          <p:cNvSpPr>
            <a:spLocks noGrp="1"/>
          </p:cNvSpPr>
          <p:nvPr/>
        </p:nvSpPr>
        <p:spPr>
          <a:xfrm>
            <a:off x="5581650" y="3971925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71%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532A-529D-4492-B96C-0A7B37D3B7B3}"/>
              </a:ext>
            </a:extLst>
          </p:cNvPr>
          <p:cNvSpPr>
            <a:spLocks noGrp="1"/>
          </p:cNvSpPr>
          <p:nvPr/>
        </p:nvSpPr>
        <p:spPr>
          <a:xfrm>
            <a:off x="819150" y="44958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462DC5-6163-444F-A4BE-32A039A3D16E}"/>
              </a:ext>
            </a:extLst>
          </p:cNvPr>
          <p:cNvSpPr>
            <a:spLocks noGrp="1"/>
          </p:cNvSpPr>
          <p:nvPr/>
        </p:nvSpPr>
        <p:spPr>
          <a:xfrm>
            <a:off x="2628900" y="4514850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4309A3-FF71-4780-ACC7-63C2CDCDA94C}"/>
              </a:ext>
            </a:extLst>
          </p:cNvPr>
          <p:cNvSpPr>
            <a:spLocks noGrp="1"/>
          </p:cNvSpPr>
          <p:nvPr/>
        </p:nvSpPr>
        <p:spPr>
          <a:xfrm>
            <a:off x="2628900" y="4514850"/>
            <a:ext cx="2518410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A402F7-6E1A-4E49-AFBA-788BB496CB89}"/>
              </a:ext>
            </a:extLst>
          </p:cNvPr>
          <p:cNvSpPr>
            <a:spLocks noGrp="1"/>
          </p:cNvSpPr>
          <p:nvPr/>
        </p:nvSpPr>
        <p:spPr>
          <a:xfrm>
            <a:off x="5581650" y="44958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66%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9641AA-C108-4BEB-939C-13F7F1D15088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26748C-F958-497A-A936-16EC3F798396}"/>
              </a:ext>
            </a:extLst>
          </p:cNvPr>
          <p:cNvSpPr>
            <a:spLocks noGrp="1"/>
          </p:cNvSpPr>
          <p:nvPr/>
        </p:nvSpPr>
        <p:spPr>
          <a:xfrm>
            <a:off x="8001000" y="2419350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BEAC53-2CDD-46A8-BBF2-89F9BDA20402}"/>
              </a:ext>
            </a:extLst>
          </p:cNvPr>
          <p:cNvSpPr>
            <a:spLocks noGrp="1"/>
          </p:cNvSpPr>
          <p:nvPr/>
        </p:nvSpPr>
        <p:spPr>
          <a:xfrm>
            <a:off x="8001000" y="2419350"/>
            <a:ext cx="2660650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5F97A1-CB18-4C50-8B79-90A4FF4D5EC3}"/>
              </a:ext>
            </a:extLst>
          </p:cNvPr>
          <p:cNvSpPr>
            <a:spLocks noGrp="1"/>
          </p:cNvSpPr>
          <p:nvPr/>
        </p:nvSpPr>
        <p:spPr>
          <a:xfrm>
            <a:off x="10953750" y="24003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84%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DBED6E-8E31-42F6-98C6-48F68F7CFC82}"/>
              </a:ext>
            </a:extLst>
          </p:cNvPr>
          <p:cNvSpPr>
            <a:spLocks noGrp="1"/>
          </p:cNvSpPr>
          <p:nvPr/>
        </p:nvSpPr>
        <p:spPr>
          <a:xfrm>
            <a:off x="6191250" y="29241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2FD8B9-B250-44E4-962A-84405AF1F470}"/>
              </a:ext>
            </a:extLst>
          </p:cNvPr>
          <p:cNvSpPr>
            <a:spLocks noGrp="1"/>
          </p:cNvSpPr>
          <p:nvPr/>
        </p:nvSpPr>
        <p:spPr>
          <a:xfrm>
            <a:off x="8001000" y="2943225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49FEF0-F2B1-4F5E-8069-863234353967}"/>
              </a:ext>
            </a:extLst>
          </p:cNvPr>
          <p:cNvSpPr>
            <a:spLocks noGrp="1"/>
          </p:cNvSpPr>
          <p:nvPr/>
        </p:nvSpPr>
        <p:spPr>
          <a:xfrm>
            <a:off x="8001000" y="2943225"/>
            <a:ext cx="2482850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25BF74-6059-46B3-98EB-290F87374247}"/>
              </a:ext>
            </a:extLst>
          </p:cNvPr>
          <p:cNvSpPr>
            <a:spLocks noGrp="1"/>
          </p:cNvSpPr>
          <p:nvPr/>
        </p:nvSpPr>
        <p:spPr>
          <a:xfrm>
            <a:off x="10953750" y="2924175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78%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455F57-B162-42D6-B54D-DDF1E013FB66}"/>
              </a:ext>
            </a:extLst>
          </p:cNvPr>
          <p:cNvSpPr>
            <a:spLocks noGrp="1"/>
          </p:cNvSpPr>
          <p:nvPr/>
        </p:nvSpPr>
        <p:spPr>
          <a:xfrm>
            <a:off x="6191250" y="34480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D73175-FCC1-452D-9506-FA0DAB945A89}"/>
              </a:ext>
            </a:extLst>
          </p:cNvPr>
          <p:cNvSpPr>
            <a:spLocks noGrp="1"/>
          </p:cNvSpPr>
          <p:nvPr/>
        </p:nvSpPr>
        <p:spPr>
          <a:xfrm>
            <a:off x="8001000" y="3467100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EB7D52C-9A74-4CE7-ACF5-A0DE75843013}"/>
              </a:ext>
            </a:extLst>
          </p:cNvPr>
          <p:cNvSpPr>
            <a:spLocks noGrp="1"/>
          </p:cNvSpPr>
          <p:nvPr/>
        </p:nvSpPr>
        <p:spPr>
          <a:xfrm>
            <a:off x="8001000" y="3467100"/>
            <a:ext cx="2381250" cy="1905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C7BDAB-A409-4C8B-988A-BDA8C656D7B6}"/>
              </a:ext>
            </a:extLst>
          </p:cNvPr>
          <p:cNvSpPr>
            <a:spLocks noGrp="1"/>
          </p:cNvSpPr>
          <p:nvPr/>
        </p:nvSpPr>
        <p:spPr>
          <a:xfrm>
            <a:off x="10953750" y="34480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BC7D905-AAB9-446C-8E2A-D099847EF627}"/>
              </a:ext>
            </a:extLst>
          </p:cNvPr>
          <p:cNvSpPr>
            <a:spLocks noGrp="1"/>
          </p:cNvSpPr>
          <p:nvPr/>
        </p:nvSpPr>
        <p:spPr>
          <a:xfrm>
            <a:off x="6191250" y="397192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98AB7D-A59B-4F78-996B-EC3321916E60}"/>
              </a:ext>
            </a:extLst>
          </p:cNvPr>
          <p:cNvSpPr>
            <a:spLocks noGrp="1"/>
          </p:cNvSpPr>
          <p:nvPr/>
        </p:nvSpPr>
        <p:spPr>
          <a:xfrm>
            <a:off x="8001000" y="3990975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6937DD-3654-41C6-B762-ADE7177A122E}"/>
              </a:ext>
            </a:extLst>
          </p:cNvPr>
          <p:cNvSpPr>
            <a:spLocks noGrp="1"/>
          </p:cNvSpPr>
          <p:nvPr/>
        </p:nvSpPr>
        <p:spPr>
          <a:xfrm>
            <a:off x="8001000" y="3990975"/>
            <a:ext cx="2552700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DEC281-6BFE-4346-8FAD-D48CE3A233FC}"/>
              </a:ext>
            </a:extLst>
          </p:cNvPr>
          <p:cNvSpPr>
            <a:spLocks noGrp="1"/>
          </p:cNvSpPr>
          <p:nvPr/>
        </p:nvSpPr>
        <p:spPr>
          <a:xfrm>
            <a:off x="10953750" y="3971925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A8ADBDA-2166-4260-9059-1F1C84C25AE5}"/>
              </a:ext>
            </a:extLst>
          </p:cNvPr>
          <p:cNvSpPr>
            <a:spLocks noGrp="1"/>
          </p:cNvSpPr>
          <p:nvPr/>
        </p:nvSpPr>
        <p:spPr>
          <a:xfrm>
            <a:off x="6191250" y="44958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4A228C2-1550-49BB-9593-AC8D49B6C073}"/>
              </a:ext>
            </a:extLst>
          </p:cNvPr>
          <p:cNvSpPr>
            <a:spLocks noGrp="1"/>
          </p:cNvSpPr>
          <p:nvPr/>
        </p:nvSpPr>
        <p:spPr>
          <a:xfrm>
            <a:off x="8001000" y="4514850"/>
            <a:ext cx="2857500" cy="1905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5C6962-40C2-483E-AB2E-802D4187E266}"/>
              </a:ext>
            </a:extLst>
          </p:cNvPr>
          <p:cNvSpPr>
            <a:spLocks noGrp="1"/>
          </p:cNvSpPr>
          <p:nvPr/>
        </p:nvSpPr>
        <p:spPr>
          <a:xfrm>
            <a:off x="8001000" y="4514850"/>
            <a:ext cx="2441575" cy="1905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44F0CCC-67F0-489C-B3C1-EF836BF57E53}"/>
              </a:ext>
            </a:extLst>
          </p:cNvPr>
          <p:cNvSpPr>
            <a:spLocks noGrp="1"/>
          </p:cNvSpPr>
          <p:nvPr/>
        </p:nvSpPr>
        <p:spPr>
          <a:xfrm>
            <a:off x="10953750" y="44958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77%</a:t>
            </a:r>
          </a:p>
        </p:txBody>
      </p:sp>
    </p:spTree>
    <p:extLst>
      <p:ext uri="{BB962C8B-B14F-4D97-AF65-F5344CB8AC3E}">
        <p14:creationId xmlns:p14="http://schemas.microsoft.com/office/powerpoint/2010/main" val="1955416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2BC3434-39B5-4DEE-B515-EF24910190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2422A3-EABF-48D4-B866-E297218EC8FA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MECHANISM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B61A64-1A29-4727-BF7C-AE662CBDB39A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828EE-9111-48A8-A371-1BB34074185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verifier turns unsupported answers into repair actions.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B2845-4D5C-4B99-A30B-376E91FF77A2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Abstention is not failure when the gold row is unanswerable; hallucinating 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A65975-34BD-48C0-B7B7-13DA74024F58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6E77EE-5663-4876-AFED-D9653AE6113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2571750" cy="150495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18A9B3-3DDE-42E2-8D52-FF656DE9370A}"/>
              </a:ext>
            </a:extLst>
          </p:cNvPr>
          <p:cNvSpPr>
            <a:spLocks noGrp="1"/>
          </p:cNvSpPr>
          <p:nvPr/>
        </p:nvSpPr>
        <p:spPr>
          <a:xfrm>
            <a:off x="1143000" y="27813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9.5%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98BC3B-2493-41AD-9CD3-42E694250C8D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Lazy rate</a:t>
            </a:r>
          </a:p>
          <a:p>
            <a:pPr algn="l">
              <a:defRPr sz="10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Harness +2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19E43-0277-4DE1-ACA8-08E981B617F0}"/>
              </a:ext>
            </a:extLst>
          </p:cNvPr>
          <p:cNvSpPr>
            <a:spLocks noGrp="1"/>
          </p:cNvSpPr>
          <p:nvPr/>
        </p:nvSpPr>
        <p:spPr>
          <a:xfrm>
            <a:off x="4295775" y="2495550"/>
            <a:ext cx="2571750" cy="15049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CED2A-73EC-4021-B0C5-67F38CF162EC}"/>
              </a:ext>
            </a:extLst>
          </p:cNvPr>
          <p:cNvSpPr>
            <a:spLocks noGrp="1"/>
          </p:cNvSpPr>
          <p:nvPr/>
        </p:nvSpPr>
        <p:spPr>
          <a:xfrm>
            <a:off x="4524375" y="27813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19.6-24.3%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BA4D09-DC55-4DA2-B0B1-574CA57B07C4}"/>
              </a:ext>
            </a:extLst>
          </p:cNvPr>
          <p:cNvSpPr>
            <a:spLocks noGrp="1"/>
          </p:cNvSpPr>
          <p:nvPr/>
        </p:nvSpPr>
        <p:spPr>
          <a:xfrm>
            <a:off x="4524375" y="33718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ReAct lazy rate</a:t>
            </a:r>
          </a:p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Generic loop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BE496F-41F5-48DD-A3DB-750DFAC86AC3}"/>
              </a:ext>
            </a:extLst>
          </p:cNvPr>
          <p:cNvSpPr>
            <a:spLocks noGrp="1"/>
          </p:cNvSpPr>
          <p:nvPr/>
        </p:nvSpPr>
        <p:spPr>
          <a:xfrm>
            <a:off x="7677150" y="2495550"/>
            <a:ext cx="2571750" cy="1504950"/>
          </a:xfrm>
          <a:prstGeom prst="rect">
            <a:avLst/>
          </a:prstGeom>
          <a:solidFill>
            <a:srgbClr val="FFFDF7"/>
          </a:solidFill>
          <a:ln w="9525">
            <a:solidFill>
              <a:srgbClr val="D9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4F728D-8C61-4E8A-9EB6-EEA189B4A025}"/>
              </a:ext>
            </a:extLst>
          </p:cNvPr>
          <p:cNvSpPr>
            <a:spLocks noGrp="1"/>
          </p:cNvSpPr>
          <p:nvPr/>
        </p:nvSpPr>
        <p:spPr>
          <a:xfrm>
            <a:off x="7905750" y="2781300"/>
            <a:ext cx="209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15.5-20.3%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2CA16B-202C-4D22-B63C-8197979A6016}"/>
              </a:ext>
            </a:extLst>
          </p:cNvPr>
          <p:cNvSpPr>
            <a:spLocks noGrp="1"/>
          </p:cNvSpPr>
          <p:nvPr/>
        </p:nvSpPr>
        <p:spPr>
          <a:xfrm>
            <a:off x="7905750" y="33718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Abstain rate</a:t>
            </a:r>
          </a:p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Verifier discipline</a:t>
            </a:r>
          </a:p>
        </p:txBody>
      </p:sp>
    </p:spTree>
    <p:extLst>
      <p:ext uri="{BB962C8B-B14F-4D97-AF65-F5344CB8AC3E}">
        <p14:creationId xmlns:p14="http://schemas.microsoft.com/office/powerpoint/2010/main" val="1333369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1D8DE19-A1FB-4413-B6A9-396560BF0F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80072A-0D23-483D-A370-A9210F400F0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EXAMPLE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E454B-5E98-492E-A97C-C9A3CB2BD555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68E476-C55F-48B0-BFAE-20728ABD8384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Datasheet diagram counting: reranking chooses the one crop that matters.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E25FD-6AF5-40E8-B010-46EE51C9AED1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harness routes to page 36, crops the structure diagram, counts four boxes, and returns 2^4.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2F3E70-3B7F-4091-9708-887F55CAF3ED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481325-B3B2-4584-A699-00059EC87A33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666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Count named field boxes in adi_adrv904x_SpiSettings_t, then compute 2^N.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75C769-E9D4-4C56-99A2-1C6D184060A7}"/>
              </a:ext>
            </a:extLst>
          </p:cNvPr>
          <p:cNvSpPr>
            <a:spLocks noGrp="1"/>
          </p:cNvSpPr>
          <p:nvPr/>
        </p:nvSpPr>
        <p:spPr>
          <a:xfrm>
            <a:off x="8286750" y="2038350"/>
            <a:ext cx="29527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0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E09F1-049B-4480-B4CF-F88609AC4EE0}"/>
              </a:ext>
            </a:extLst>
          </p:cNvPr>
          <p:cNvSpPr>
            <a:spLocks noGrp="1"/>
          </p:cNvSpPr>
          <p:nvPr/>
        </p:nvSpPr>
        <p:spPr>
          <a:xfrm>
            <a:off x="8286750" y="27051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gold answer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F335BB-D565-4488-A634-245DDA416032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F22C9-DE86-4A65-AD03-E718A60B34DA}"/>
              </a:ext>
            </a:extLst>
          </p:cNvPr>
          <p:cNvSpPr>
            <a:spLocks noGrp="1"/>
          </p:cNvSpPr>
          <p:nvPr/>
        </p:nvSpPr>
        <p:spPr>
          <a:xfrm>
            <a:off x="3143250" y="31432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105B68-B660-4930-B0CD-194105FB2C22}"/>
              </a:ext>
            </a:extLst>
          </p:cNvPr>
          <p:cNvSpPr>
            <a:spLocks noGrp="1"/>
          </p:cNvSpPr>
          <p:nvPr/>
        </p:nvSpPr>
        <p:spPr>
          <a:xfrm>
            <a:off x="676275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87A7E-0E88-423F-81D7-81E4401C2777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B580DB-7F2D-47BA-9590-AEA7B5360CB1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VLM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860DD6-1E46-441F-A9BB-428415E7160A}"/>
              </a:ext>
            </a:extLst>
          </p:cNvPr>
          <p:cNvSpPr>
            <a:spLocks noGrp="1"/>
          </p:cNvSpPr>
          <p:nvPr/>
        </p:nvSpPr>
        <p:spPr>
          <a:xfrm>
            <a:off x="3143250" y="35433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4E3DF7-033E-4D3B-852D-4C2737E0D0AF}"/>
              </a:ext>
            </a:extLst>
          </p:cNvPr>
          <p:cNvSpPr>
            <a:spLocks noGrp="1"/>
          </p:cNvSpPr>
          <p:nvPr/>
        </p:nvSpPr>
        <p:spPr>
          <a:xfrm>
            <a:off x="6762750" y="3543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15BB73-1D12-4D47-8714-729082220D28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3EB832-66E7-4AC3-97B5-8F9E21EC6C40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B688BD-3729-4690-B508-EE283D091DB8}"/>
              </a:ext>
            </a:extLst>
          </p:cNvPr>
          <p:cNvSpPr>
            <a:spLocks noGrp="1"/>
          </p:cNvSpPr>
          <p:nvPr/>
        </p:nvSpPr>
        <p:spPr>
          <a:xfrm>
            <a:off x="3143250" y="39433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Unanswerable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3B6D33-D373-4FFB-BCDD-01216C0D357E}"/>
              </a:ext>
            </a:extLst>
          </p:cNvPr>
          <p:cNvSpPr>
            <a:spLocks noGrp="1"/>
          </p:cNvSpPr>
          <p:nvPr/>
        </p:nvSpPr>
        <p:spPr>
          <a:xfrm>
            <a:off x="6762750" y="39433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EB6A7F-2D0F-4096-A4D1-DC62E3F18AFE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520B9D-94B9-4849-B7E1-74C932BAA8E1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D45FFB-2A38-4E7C-9CCC-F6582793350A}"/>
              </a:ext>
            </a:extLst>
          </p:cNvPr>
          <p:cNvSpPr>
            <a:spLocks noGrp="1"/>
          </p:cNvSpPr>
          <p:nvPr/>
        </p:nvSpPr>
        <p:spPr>
          <a:xfrm>
            <a:off x="3143250" y="43434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rambling prose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AA5D33-2D3D-4BE4-AD30-BE72E07C4B25}"/>
              </a:ext>
            </a:extLst>
          </p:cNvPr>
          <p:cNvSpPr>
            <a:spLocks noGrp="1"/>
          </p:cNvSpPr>
          <p:nvPr/>
        </p:nvSpPr>
        <p:spPr>
          <a:xfrm>
            <a:off x="6762750" y="43434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AF08A2-FBD7-411E-98F2-C46C608C6FDA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12C135-A4CA-44F9-8EAD-613CBAA39471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70D601-D78A-417E-BD3F-60C176DA4528}"/>
              </a:ext>
            </a:extLst>
          </p:cNvPr>
          <p:cNvSpPr>
            <a:spLocks noGrp="1"/>
          </p:cNvSpPr>
          <p:nvPr/>
        </p:nvSpPr>
        <p:spPr>
          <a:xfrm>
            <a:off x="3143250" y="47434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DE46A2-2F8A-48AE-967C-56D61EB3D34C}"/>
              </a:ext>
            </a:extLst>
          </p:cNvPr>
          <p:cNvSpPr>
            <a:spLocks noGrp="1"/>
          </p:cNvSpPr>
          <p:nvPr/>
        </p:nvSpPr>
        <p:spPr>
          <a:xfrm>
            <a:off x="6762750" y="47434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5F10E9-FCEA-4A5E-8F79-2ECFC85569F3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47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5A6D324-A12B-4E5E-B73C-58068EDE39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3ABF21-F5DF-4955-AD32-B3523EE3BB4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EXAMPLE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AB8FF-085B-4157-BB65-1B9908C1AF13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738AEB-4236-41FA-9503-5A394C00F687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Finance table QA: exact output form matters.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618C6-EFE8-4ABA-AFCA-000112372ABE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ReAct nearly reads the table but fails exact-match form; the harness emits the canonical answer.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CA3F96-B533-40B5-AAE5-BD66B6596820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2ED1D2-C0B5-475C-8830-44B89D3E261D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666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Which aggregate country has the highest local yield in the 12/31/2025 column?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0E872-AF6C-4EDD-90A1-C28EFEA8EB99}"/>
              </a:ext>
            </a:extLst>
          </p:cNvPr>
          <p:cNvSpPr>
            <a:spLocks noGrp="1"/>
          </p:cNvSpPr>
          <p:nvPr/>
        </p:nvSpPr>
        <p:spPr>
          <a:xfrm>
            <a:off x="8286750" y="2038350"/>
            <a:ext cx="29527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30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UK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42434A-A93C-4E88-81CC-3C343A57F00C}"/>
              </a:ext>
            </a:extLst>
          </p:cNvPr>
          <p:cNvSpPr>
            <a:spLocks noGrp="1"/>
          </p:cNvSpPr>
          <p:nvPr/>
        </p:nvSpPr>
        <p:spPr>
          <a:xfrm>
            <a:off x="8286750" y="27051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gold answer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C2D456-CBF5-49B5-996D-A3EB935D49DD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846051-D582-479A-9F0A-57139DEE45A2}"/>
              </a:ext>
            </a:extLst>
          </p:cNvPr>
          <p:cNvSpPr>
            <a:spLocks noGrp="1"/>
          </p:cNvSpPr>
          <p:nvPr/>
        </p:nvSpPr>
        <p:spPr>
          <a:xfrm>
            <a:off x="3143250" y="31432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C86D9D-8AD4-4DDB-9F92-BD03A49D67ED}"/>
              </a:ext>
            </a:extLst>
          </p:cNvPr>
          <p:cNvSpPr>
            <a:spLocks noGrp="1"/>
          </p:cNvSpPr>
          <p:nvPr/>
        </p:nvSpPr>
        <p:spPr>
          <a:xfrm>
            <a:off x="676275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3723DC-E1EC-4705-8125-F5B9E1519232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B8A743-7374-4B53-BE0C-B13ABC872274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VLM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DE3835-B954-4EA4-A891-E36EFAF557FD}"/>
              </a:ext>
            </a:extLst>
          </p:cNvPr>
          <p:cNvSpPr>
            <a:spLocks noGrp="1"/>
          </p:cNvSpPr>
          <p:nvPr/>
        </p:nvSpPr>
        <p:spPr>
          <a:xfrm>
            <a:off x="3143250" y="35433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Italy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1168AC-158C-4E1D-BF11-96B76391F67E}"/>
              </a:ext>
            </a:extLst>
          </p:cNvPr>
          <p:cNvSpPr>
            <a:spLocks noGrp="1"/>
          </p:cNvSpPr>
          <p:nvPr/>
        </p:nvSpPr>
        <p:spPr>
          <a:xfrm>
            <a:off x="6762750" y="3543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30759B-D157-44CA-A0DB-BF758378595E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072104-F49E-4DDB-8608-445BE0E7ED79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CA0EFF-8A16-4433-8E03-C0E50976527B}"/>
              </a:ext>
            </a:extLst>
          </p:cNvPr>
          <p:cNvSpPr>
            <a:spLocks noGrp="1"/>
          </p:cNvSpPr>
          <p:nvPr/>
        </p:nvSpPr>
        <p:spPr>
          <a:xfrm>
            <a:off x="3143250" y="39433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UK ... 4.88% prose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8CC83B-CE81-46E5-BDAB-BE21C38A5602}"/>
              </a:ext>
            </a:extLst>
          </p:cNvPr>
          <p:cNvSpPr>
            <a:spLocks noGrp="1"/>
          </p:cNvSpPr>
          <p:nvPr/>
        </p:nvSpPr>
        <p:spPr>
          <a:xfrm>
            <a:off x="6762750" y="39433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33B92F-1B11-4BD2-B40E-0CC6F09981A9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ED2511-9D42-4952-9732-14BF3A9C5888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58B69E-8F27-4DFB-8E1F-4CBD21A5A3D1}"/>
              </a:ext>
            </a:extLst>
          </p:cNvPr>
          <p:cNvSpPr>
            <a:spLocks noGrp="1"/>
          </p:cNvSpPr>
          <p:nvPr/>
        </p:nvSpPr>
        <p:spPr>
          <a:xfrm>
            <a:off x="3143250" y="43434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Italy ... 5.10%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6FBBB4-D332-44BC-8021-DC461DDA776C}"/>
              </a:ext>
            </a:extLst>
          </p:cNvPr>
          <p:cNvSpPr>
            <a:spLocks noGrp="1"/>
          </p:cNvSpPr>
          <p:nvPr/>
        </p:nvSpPr>
        <p:spPr>
          <a:xfrm>
            <a:off x="6762750" y="43434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9ED478-6F76-449A-9C01-A4DA159CF660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1422B7-B451-463D-AD83-F622154AC379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C6C8AE-2FD6-402F-A930-307181BE1398}"/>
              </a:ext>
            </a:extLst>
          </p:cNvPr>
          <p:cNvSpPr>
            <a:spLocks noGrp="1"/>
          </p:cNvSpPr>
          <p:nvPr/>
        </p:nvSpPr>
        <p:spPr>
          <a:xfrm>
            <a:off x="3143250" y="47434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UK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443839-CF79-490E-8D8F-1A63FC6EF139}"/>
              </a:ext>
            </a:extLst>
          </p:cNvPr>
          <p:cNvSpPr>
            <a:spLocks noGrp="1"/>
          </p:cNvSpPr>
          <p:nvPr/>
        </p:nvSpPr>
        <p:spPr>
          <a:xfrm>
            <a:off x="6762750" y="47434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88DBA6-150C-4E24-BD94-88A02B62D50C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55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0A5A48D-E4CC-4822-8F0C-604488D495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817B26-0E00-4665-8F04-73509334AEC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EXAMPLE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043AFE-767F-4A71-B04F-2135C15A8AA9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20018A-1DCD-4AB6-A50B-DEE2A39F058B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Cross-reference QA rewards table-literal extraction.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7D45C-DB0C-44B5-B5E8-BDA77ECF761E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harness returns the row label literal from the cited table.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061C1B-B478-43FA-BE5B-6623122AC25F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078B2-35D1-4180-8DF9-E0EAE5C89598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666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Which month had higher Class A average price and fewer Class A shares purchased?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53D788-CA76-4AC8-8EEB-B53571260BCC}"/>
              </a:ext>
            </a:extLst>
          </p:cNvPr>
          <p:cNvSpPr>
            <a:spLocks noGrp="1"/>
          </p:cNvSpPr>
          <p:nvPr/>
        </p:nvSpPr>
        <p:spPr>
          <a:xfrm>
            <a:off x="8286750" y="2038350"/>
            <a:ext cx="29527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November 1 - 30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5D428-406B-43A9-8D8D-C284FE75115D}"/>
              </a:ext>
            </a:extLst>
          </p:cNvPr>
          <p:cNvSpPr>
            <a:spLocks noGrp="1"/>
          </p:cNvSpPr>
          <p:nvPr/>
        </p:nvSpPr>
        <p:spPr>
          <a:xfrm>
            <a:off x="8286750" y="27051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gold answer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35F994-3575-4DC7-9018-BE6021C65066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AF1960-12EE-4DBF-9C6A-F259B3E9F6A7}"/>
              </a:ext>
            </a:extLst>
          </p:cNvPr>
          <p:cNvSpPr>
            <a:spLocks noGrp="1"/>
          </p:cNvSpPr>
          <p:nvPr/>
        </p:nvSpPr>
        <p:spPr>
          <a:xfrm>
            <a:off x="3143250" y="31432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949AEE-F97E-492F-BC0D-7CC60BE9D21E}"/>
              </a:ext>
            </a:extLst>
          </p:cNvPr>
          <p:cNvSpPr>
            <a:spLocks noGrp="1"/>
          </p:cNvSpPr>
          <p:nvPr/>
        </p:nvSpPr>
        <p:spPr>
          <a:xfrm>
            <a:off x="6762750" y="31432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Correct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8B6BD4-0C9C-4BC0-AEC8-00E5E2759D10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A8A9AC-A02E-48A9-A532-641217683CBA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VLM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55E05A-094D-4F66-8193-EB21161BACA8}"/>
              </a:ext>
            </a:extLst>
          </p:cNvPr>
          <p:cNvSpPr>
            <a:spLocks noGrp="1"/>
          </p:cNvSpPr>
          <p:nvPr/>
        </p:nvSpPr>
        <p:spPr>
          <a:xfrm>
            <a:off x="3143250" y="35433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Unanswerable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4CB8DD-EA47-47C3-9576-597B3B02A66A}"/>
              </a:ext>
            </a:extLst>
          </p:cNvPr>
          <p:cNvSpPr>
            <a:spLocks noGrp="1"/>
          </p:cNvSpPr>
          <p:nvPr/>
        </p:nvSpPr>
        <p:spPr>
          <a:xfrm>
            <a:off x="6762750" y="35433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441659-13D5-468E-AE71-E731CA8D26AD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DD56FB-98A8-482D-AFF9-66DA80DA2BB3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+4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6CA733-B922-4B09-9A63-1E40E1A2E3C3}"/>
              </a:ext>
            </a:extLst>
          </p:cNvPr>
          <p:cNvSpPr>
            <a:spLocks noGrp="1"/>
          </p:cNvSpPr>
          <p:nvPr/>
        </p:nvSpPr>
        <p:spPr>
          <a:xfrm>
            <a:off x="3143250" y="39433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November ... prose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A7403-C799-4914-9EA8-00B6684579A2}"/>
              </a:ext>
            </a:extLst>
          </p:cNvPr>
          <p:cNvSpPr>
            <a:spLocks noGrp="1"/>
          </p:cNvSpPr>
          <p:nvPr/>
        </p:nvSpPr>
        <p:spPr>
          <a:xfrm>
            <a:off x="6762750" y="39433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DA7772-C3B2-4576-B517-159CB4FE6FF4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2ECD9F-A74B-4723-A0C9-91A05E576E9D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+4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50174C-A38D-4CF3-AB21-7176B547BC85}"/>
              </a:ext>
            </a:extLst>
          </p:cNvPr>
          <p:cNvSpPr>
            <a:spLocks noGrp="1"/>
          </p:cNvSpPr>
          <p:nvPr/>
        </p:nvSpPr>
        <p:spPr>
          <a:xfrm>
            <a:off x="3143250" y="43434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October and November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28C138-4B59-4396-A148-AA71970C29C5}"/>
              </a:ext>
            </a:extLst>
          </p:cNvPr>
          <p:cNvSpPr>
            <a:spLocks noGrp="1"/>
          </p:cNvSpPr>
          <p:nvPr/>
        </p:nvSpPr>
        <p:spPr>
          <a:xfrm>
            <a:off x="6762750" y="43434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D76324-7495-4006-BE54-CC83E221A501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091131-EEA1-480A-A087-F8E87874232A}"/>
              </a:ext>
            </a:extLst>
          </p:cNvPr>
          <p:cNvSpPr>
            <a:spLocks noGrp="1"/>
          </p:cNvSpPr>
          <p:nvPr/>
        </p:nvSpPr>
        <p:spPr>
          <a:xfrm>
            <a:off x="762000" y="47434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Harness +4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CFA8AD-33B8-40CB-895D-F70325ABF291}"/>
              </a:ext>
            </a:extLst>
          </p:cNvPr>
          <p:cNvSpPr>
            <a:spLocks noGrp="1"/>
          </p:cNvSpPr>
          <p:nvPr/>
        </p:nvSpPr>
        <p:spPr>
          <a:xfrm>
            <a:off x="3143250" y="47434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November 1 - 30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80FC0A-9417-4C5E-A025-C30C3315000B}"/>
              </a:ext>
            </a:extLst>
          </p:cNvPr>
          <p:cNvSpPr>
            <a:spLocks noGrp="1"/>
          </p:cNvSpPr>
          <p:nvPr/>
        </p:nvSpPr>
        <p:spPr>
          <a:xfrm>
            <a:off x="6762750" y="474345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59B7D8-5177-411C-B38D-C51D1AB24B6C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704850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92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412C07B-2D54-456B-B641-781321EC44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E55939-0895-4CFC-A270-609848A0D28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TOOL COUNT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ED8C23-F2A9-47EA-AF74-FF42AF0A74A7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10ECB1-375C-4F8D-B799-16932D1FD2E9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More tools alone does not explain the win.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16CAC5-1F68-4680-B0A5-2564D55B63E0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Tool access without a structure for using evidence is mostly expensive noise.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B76E8A-F6EF-46E9-89B3-0836292D77C6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9D36AA-9B85-4CA3-BDB2-4D6FA53BAD78}"/>
              </a:ext>
            </a:extLst>
          </p:cNvPr>
          <p:cNvSpPr>
            <a:spLocks noGrp="1"/>
          </p:cNvSpPr>
          <p:nvPr/>
        </p:nvSpPr>
        <p:spPr>
          <a:xfrm>
            <a:off x="819150" y="22479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D2CDF1-E89F-4F8F-A8D1-FB9A70A7EF77}"/>
              </a:ext>
            </a:extLst>
          </p:cNvPr>
          <p:cNvSpPr>
            <a:spLocks noGrp="1"/>
          </p:cNvSpPr>
          <p:nvPr/>
        </p:nvSpPr>
        <p:spPr>
          <a:xfrm>
            <a:off x="3200400" y="22479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+2 acc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FDFCA7-6165-4E01-9531-1BD5534950CF}"/>
              </a:ext>
            </a:extLst>
          </p:cNvPr>
          <p:cNvSpPr>
            <a:spLocks noGrp="1"/>
          </p:cNvSpPr>
          <p:nvPr/>
        </p:nvSpPr>
        <p:spPr>
          <a:xfrm>
            <a:off x="4438650" y="22479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+4 acc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8863CB-9A1F-4035-B0F9-30618FD63F32}"/>
              </a:ext>
            </a:extLst>
          </p:cNvPr>
          <p:cNvSpPr>
            <a:spLocks noGrp="1"/>
          </p:cNvSpPr>
          <p:nvPr/>
        </p:nvSpPr>
        <p:spPr>
          <a:xfrm>
            <a:off x="5676900" y="22479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Delta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AEFA08-4618-412D-BD38-B7AE759C00FF}"/>
              </a:ext>
            </a:extLst>
          </p:cNvPr>
          <p:cNvSpPr>
            <a:spLocks noGrp="1"/>
          </p:cNvSpPr>
          <p:nvPr/>
        </p:nvSpPr>
        <p:spPr>
          <a:xfrm>
            <a:off x="7105650" y="224790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83BFBC-6F2E-4191-8E82-053A29AFBB2A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7715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5C093B-9EFA-4086-8B51-8121B0DFC464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F0E142-DCB6-4F8C-B0C5-A9DF9454F9EF}"/>
              </a:ext>
            </a:extLst>
          </p:cNvPr>
          <p:cNvSpPr>
            <a:spLocks noGrp="1"/>
          </p:cNvSpPr>
          <p:nvPr/>
        </p:nvSpPr>
        <p:spPr>
          <a:xfrm>
            <a:off x="3200400" y="27241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13.5%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A7CE2F-3AB6-490A-9BD1-30821A2FA3AC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14.2%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B11B9E-C915-4BCC-AED8-DCCB20972480}"/>
              </a:ext>
            </a:extLst>
          </p:cNvPr>
          <p:cNvSpPr>
            <a:spLocks noGrp="1"/>
          </p:cNvSpPr>
          <p:nvPr/>
        </p:nvSpPr>
        <p:spPr>
          <a:xfrm>
            <a:off x="5676900" y="27241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+0.7 pp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EBAA58-8652-41FF-87AC-D0B3FC7AE22B}"/>
              </a:ext>
            </a:extLst>
          </p:cNvPr>
          <p:cNvSpPr>
            <a:spLocks noGrp="1"/>
          </p:cNvSpPr>
          <p:nvPr/>
        </p:nvSpPr>
        <p:spPr>
          <a:xfrm>
            <a:off x="7105650" y="27241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+30% cost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9F009A-06EB-4E8F-AA9D-C5DF563935D0}"/>
              </a:ext>
            </a:extLst>
          </p:cNvPr>
          <p:cNvSpPr>
            <a:spLocks noGrp="1"/>
          </p:cNvSpPr>
          <p:nvPr/>
        </p:nvSpPr>
        <p:spPr>
          <a:xfrm>
            <a:off x="819150" y="2971800"/>
            <a:ext cx="7715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C27578-CBF5-446E-826E-8876E9EED1C3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 baseline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8FEEB2-ACED-48BA-A3C1-5CD38CEFAB44}"/>
              </a:ext>
            </a:extLst>
          </p:cNvPr>
          <p:cNvSpPr>
            <a:spLocks noGrp="1"/>
          </p:cNvSpPr>
          <p:nvPr/>
        </p:nvSpPr>
        <p:spPr>
          <a:xfrm>
            <a:off x="3200400" y="32194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8.1%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436C5C-999D-47EE-9C9B-39F7ECE4EB00}"/>
              </a:ext>
            </a:extLst>
          </p:cNvPr>
          <p:cNvSpPr>
            <a:spLocks noGrp="1"/>
          </p:cNvSpPr>
          <p:nvPr/>
        </p:nvSpPr>
        <p:spPr>
          <a:xfrm>
            <a:off x="4438650" y="32194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6.8%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89F204-A11E-4119-8F19-771BCEB66388}"/>
              </a:ext>
            </a:extLst>
          </p:cNvPr>
          <p:cNvSpPr>
            <a:spLocks noGrp="1"/>
          </p:cNvSpPr>
          <p:nvPr/>
        </p:nvSpPr>
        <p:spPr>
          <a:xfrm>
            <a:off x="5676900" y="32194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-1.3 pp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FDF15D-0F78-42D3-97CE-F74CDA493274}"/>
              </a:ext>
            </a:extLst>
          </p:cNvPr>
          <p:cNvSpPr>
            <a:spLocks noGrp="1"/>
          </p:cNvSpPr>
          <p:nvPr/>
        </p:nvSpPr>
        <p:spPr>
          <a:xfrm>
            <a:off x="7105650" y="32194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+23% cost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1844E9-7A77-4346-BD1B-42BD01C6C569}"/>
              </a:ext>
            </a:extLst>
          </p:cNvPr>
          <p:cNvSpPr>
            <a:spLocks noGrp="1"/>
          </p:cNvSpPr>
          <p:nvPr/>
        </p:nvSpPr>
        <p:spPr>
          <a:xfrm>
            <a:off x="819150" y="3467100"/>
            <a:ext cx="7715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1C1526-E5E9-4C30-B011-E8524B9366EA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Harness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8AD34D-FAD1-44C1-8F03-B542AAD9B104}"/>
              </a:ext>
            </a:extLst>
          </p:cNvPr>
          <p:cNvSpPr>
            <a:spLocks noGrp="1"/>
          </p:cNvSpPr>
          <p:nvPr/>
        </p:nvSpPr>
        <p:spPr>
          <a:xfrm>
            <a:off x="3200400" y="3714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50.0%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8DAABB-58BA-4F26-AF20-8BAE0F4DBA1D}"/>
              </a:ext>
            </a:extLst>
          </p:cNvPr>
          <p:cNvSpPr>
            <a:spLocks noGrp="1"/>
          </p:cNvSpPr>
          <p:nvPr/>
        </p:nvSpPr>
        <p:spPr>
          <a:xfrm>
            <a:off x="4438650" y="3714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43.9%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D0C14F-CF98-409B-AD65-881C84A148C2}"/>
              </a:ext>
            </a:extLst>
          </p:cNvPr>
          <p:cNvSpPr>
            <a:spLocks noGrp="1"/>
          </p:cNvSpPr>
          <p:nvPr/>
        </p:nvSpPr>
        <p:spPr>
          <a:xfrm>
            <a:off x="5676900" y="37147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-6.1 pp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25757A-28A1-4B5F-BE31-5583BC99266F}"/>
              </a:ext>
            </a:extLst>
          </p:cNvPr>
          <p:cNvSpPr>
            <a:spLocks noGrp="1"/>
          </p:cNvSpPr>
          <p:nvPr/>
        </p:nvSpPr>
        <p:spPr>
          <a:xfrm>
            <a:off x="7105650" y="37147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+15% cost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44F13B-F8C0-4751-B65F-A79E25D390E5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7715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77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702C857-1287-446C-BCEF-2FC1FB168D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CECBE1-156A-4920-AC9E-32266D74CE82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FAILURES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6D733-F4B9-4430-A8A0-11385F0EB2C5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B33E09-85CC-4A74-B318-1835233ED246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When the harness is wrong, it usually already found the right region.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B601FD-9E89-4AE2-A175-A8764B10F47A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The next ceiling is extraction/reasoning, not page retrieval.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718857-FB0D-4510-8258-47F6C0806FBE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6CB312-362C-45A4-B44B-C7AE999D1EA8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Right region, wrong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00057D-2298-4794-8810-FEE878D993C3}"/>
              </a:ext>
            </a:extLst>
          </p:cNvPr>
          <p:cNvSpPr>
            <a:spLocks noGrp="1"/>
          </p:cNvSpPr>
          <p:nvPr/>
        </p:nvSpPr>
        <p:spPr>
          <a:xfrm>
            <a:off x="2686050" y="2209800"/>
            <a:ext cx="5905500" cy="2286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1BABD4-9BED-44EC-B052-D973AE609FA6}"/>
              </a:ext>
            </a:extLst>
          </p:cNvPr>
          <p:cNvSpPr>
            <a:spLocks noGrp="1"/>
          </p:cNvSpPr>
          <p:nvPr/>
        </p:nvSpPr>
        <p:spPr>
          <a:xfrm>
            <a:off x="2686050" y="2209800"/>
            <a:ext cx="5230586" cy="2286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129D41-0437-4FD7-BF13-1BDD3BDA8AC6}"/>
              </a:ext>
            </a:extLst>
          </p:cNvPr>
          <p:cNvSpPr>
            <a:spLocks noGrp="1"/>
          </p:cNvSpPr>
          <p:nvPr/>
        </p:nvSpPr>
        <p:spPr>
          <a:xfrm>
            <a:off x="8686800" y="21907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121235-411C-4C3B-9BF8-4F78FC0E013B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76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81%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43ED9B-4140-4EF5-8F9F-90D49F2838B1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Localization miss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4FDAA2-5C53-49D4-B498-EE9C30C07DA3}"/>
              </a:ext>
            </a:extLst>
          </p:cNvPr>
          <p:cNvSpPr>
            <a:spLocks noGrp="1"/>
          </p:cNvSpPr>
          <p:nvPr/>
        </p:nvSpPr>
        <p:spPr>
          <a:xfrm>
            <a:off x="2686050" y="2895600"/>
            <a:ext cx="5905500" cy="2286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4BD5A-2F40-4D3F-9D09-9945A37D5E88}"/>
              </a:ext>
            </a:extLst>
          </p:cNvPr>
          <p:cNvSpPr>
            <a:spLocks noGrp="1"/>
          </p:cNvSpPr>
          <p:nvPr/>
        </p:nvSpPr>
        <p:spPr>
          <a:xfrm>
            <a:off x="2686050" y="2895600"/>
            <a:ext cx="928007" cy="2286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9DD376-5FCB-49EA-B920-FFEA5B139D2A}"/>
              </a:ext>
            </a:extLst>
          </p:cNvPr>
          <p:cNvSpPr>
            <a:spLocks noGrp="1"/>
          </p:cNvSpPr>
          <p:nvPr/>
        </p:nvSpPr>
        <p:spPr>
          <a:xfrm>
            <a:off x="8686800" y="28765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25E631-D814-4001-95CD-91C312027D34}"/>
              </a:ext>
            </a:extLst>
          </p:cNvPr>
          <p:cNvSpPr>
            <a:spLocks noGrp="1"/>
          </p:cNvSpPr>
          <p:nvPr/>
        </p:nvSpPr>
        <p:spPr>
          <a:xfrm>
            <a:off x="9239250" y="2838450"/>
            <a:ext cx="76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46175F-38D6-4FAA-8412-F8CA776DF332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No citations / early abstain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5EB08D-A700-4C20-A4F2-25476E866B1A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5905500" cy="2286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30689-6689-40F1-88DC-80EB05189390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843643" cy="2286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B069AB-AF2A-4643-9C04-ACD66C7D8C21}"/>
              </a:ext>
            </a:extLst>
          </p:cNvPr>
          <p:cNvSpPr>
            <a:spLocks noGrp="1"/>
          </p:cNvSpPr>
          <p:nvPr/>
        </p:nvSpPr>
        <p:spPr>
          <a:xfrm>
            <a:off x="8686800" y="35623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DEEF4A-C424-4B71-8E80-EBDE52557692}"/>
              </a:ext>
            </a:extLst>
          </p:cNvPr>
          <p:cNvSpPr>
            <a:spLocks noGrp="1"/>
          </p:cNvSpPr>
          <p:nvPr/>
        </p:nvSpPr>
        <p:spPr>
          <a:xfrm>
            <a:off x="9239250" y="3524250"/>
            <a:ext cx="76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65111D-3E5F-497E-9C11-30F2203ADFC8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Partial localization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256BCE-462D-41BA-B41F-9A53AC1ECD81}"/>
              </a:ext>
            </a:extLst>
          </p:cNvPr>
          <p:cNvSpPr>
            <a:spLocks noGrp="1"/>
          </p:cNvSpPr>
          <p:nvPr/>
        </p:nvSpPr>
        <p:spPr>
          <a:xfrm>
            <a:off x="2686050" y="4267200"/>
            <a:ext cx="5905500" cy="228600"/>
          </a:xfrm>
          <a:prstGeom prst="rect">
            <a:avLst/>
          </a:prstGeom>
          <a:solidFill>
            <a:srgbClr val="E9E1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2BBBC5-2F21-454C-9E73-ADAF08B6F8DD}"/>
              </a:ext>
            </a:extLst>
          </p:cNvPr>
          <p:cNvSpPr>
            <a:spLocks noGrp="1"/>
          </p:cNvSpPr>
          <p:nvPr/>
        </p:nvSpPr>
        <p:spPr>
          <a:xfrm>
            <a:off x="2686050" y="4267200"/>
            <a:ext cx="337457" cy="2286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03AF3A-37D5-40AB-8505-95261605526A}"/>
              </a:ext>
            </a:extLst>
          </p:cNvPr>
          <p:cNvSpPr>
            <a:spLocks noGrp="1"/>
          </p:cNvSpPr>
          <p:nvPr/>
        </p:nvSpPr>
        <p:spPr>
          <a:xfrm>
            <a:off x="8686800" y="42481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A23E18-7940-43FA-9B97-0933D6B8601E}"/>
              </a:ext>
            </a:extLst>
          </p:cNvPr>
          <p:cNvSpPr>
            <a:spLocks noGrp="1"/>
          </p:cNvSpPr>
          <p:nvPr/>
        </p:nvSpPr>
        <p:spPr>
          <a:xfrm>
            <a:off x="9239250" y="4210050"/>
            <a:ext cx="76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11552114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362C8F2-E58A-4AF1-8738-FB9025A31C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63A3D0-D7F6-44E2-A745-A6467F81530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CHAPTER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EFBAB-4199-4385-BF66-E1F111096DB9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68327-69A7-433E-A5C3-9A2B52ACC86C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Caveats and next experiments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7E39C0-5BB5-4EC2-8F40-AF1DAF344729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What the evidence supports now, and what still needs replicate discipline.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1F867E-FFF2-41F6-A888-468F3CADEE7E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E87A43-E8FD-48F9-BF3D-6FC8BC6D43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D4D02-DEC8-4F21-B4DC-660BB0A60B8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B8A6"/>
                </a:solidFill>
                <a:latin typeface="Aptos"/>
                <a:ea typeface="Aptos"/>
                <a:cs typeface="Aptos"/>
              </a:rPr>
              <a:t>CHAPTER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CC6360-5975-46DA-AAC9-30C699A2FBB2}"/>
              </a:ext>
            </a:extLst>
          </p:cNvPr>
          <p:cNvSpPr>
            <a:spLocks noGrp="1"/>
          </p:cNvSpPr>
          <p:nvPr/>
        </p:nvSpPr>
        <p:spPr>
          <a:xfrm>
            <a:off x="590550" y="914400"/>
            <a:ext cx="2476500" cy="19050"/>
          </a:xfrm>
          <a:prstGeom prst="rect">
            <a:avLst/>
          </a:prstGeom>
          <a:solidFill>
            <a:srgbClr val="14B8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2BF9C4-819A-4EFC-8CF9-19CA6330F1C4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8382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Caveats and next experiments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FA3FE8-AF68-49C1-A2B6-0EB17D908E4B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What the evidence supports now, and what still needs replicate discipline.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5A74F3-2CE3-4412-8FA6-3394C13E6008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777344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50EB5DE-7860-47D9-BEE0-7EF6EC635F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7AEA2-412B-43A4-88D8-22071AD8C388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ABLATION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FDB434-EFC9-4D4B-84EA-B10C7F440761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8015E3-26ED-4DC3-904D-7BE72CDFACF0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Within-harness deltas are useful, but not yet statistically settled.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252F9-B378-46EF-BE1D-294502EBB1B5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Phase 6a helps datasheets and hurts finance, suggesting domain-specific bottlenecks.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75381-7617-4C80-8E7B-58D82548DB9A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2DCB51-87DA-4A80-9715-C30D2B145CDA}"/>
              </a:ext>
            </a:extLst>
          </p:cNvPr>
          <p:cNvSpPr>
            <a:spLocks noGrp="1"/>
          </p:cNvSpPr>
          <p:nvPr/>
        </p:nvSpPr>
        <p:spPr>
          <a:xfrm>
            <a:off x="819150" y="224790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0C32BD-DD75-4903-9BB9-E2CB878828BE}"/>
              </a:ext>
            </a:extLst>
          </p:cNvPr>
          <p:cNvSpPr>
            <a:spLocks noGrp="1"/>
          </p:cNvSpPr>
          <p:nvPr/>
        </p:nvSpPr>
        <p:spPr>
          <a:xfrm>
            <a:off x="4438650" y="22479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EE19D7-BEAD-45AB-AB9C-7832ADE255E3}"/>
              </a:ext>
            </a:extLst>
          </p:cNvPr>
          <p:cNvSpPr>
            <a:spLocks noGrp="1"/>
          </p:cNvSpPr>
          <p:nvPr/>
        </p:nvSpPr>
        <p:spPr>
          <a:xfrm>
            <a:off x="5676900" y="22479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Datasheet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8C9AAF-8627-4D45-98A7-E7D212C7D2D0}"/>
              </a:ext>
            </a:extLst>
          </p:cNvPr>
          <p:cNvSpPr>
            <a:spLocks noGrp="1"/>
          </p:cNvSpPr>
          <p:nvPr/>
        </p:nvSpPr>
        <p:spPr>
          <a:xfrm>
            <a:off x="6915150" y="22479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9D6AE2-FED3-486F-8348-5D5E9805F153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7334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25DD34-73DB-4B4E-98C7-A67AAAC858F9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rebaseline +4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8A28E7-D9CD-4D56-9EF7-6B667B912300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43.9%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FDD7DF-19B0-4FF4-AC5E-A4669F19AE1F}"/>
              </a:ext>
            </a:extLst>
          </p:cNvPr>
          <p:cNvSpPr>
            <a:spLocks noGrp="1"/>
          </p:cNvSpPr>
          <p:nvPr/>
        </p:nvSpPr>
        <p:spPr>
          <a:xfrm>
            <a:off x="5676900" y="27241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49.5%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A56ED7-342F-4B75-9527-03CC34B18343}"/>
              </a:ext>
            </a:extLst>
          </p:cNvPr>
          <p:cNvSpPr>
            <a:spLocks noGrp="1"/>
          </p:cNvSpPr>
          <p:nvPr/>
        </p:nvSpPr>
        <p:spPr>
          <a:xfrm>
            <a:off x="6915150" y="27241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31.9%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BE8053-DE34-47FF-A4D9-9E0B41868DA8}"/>
              </a:ext>
            </a:extLst>
          </p:cNvPr>
          <p:cNvSpPr>
            <a:spLocks noGrp="1"/>
          </p:cNvSpPr>
          <p:nvPr/>
        </p:nvSpPr>
        <p:spPr>
          <a:xfrm>
            <a:off x="819150" y="2971800"/>
            <a:ext cx="7334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C8A6BB-5918-44A8-BD53-6D60C5844DD9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311483-7BF4-4024-AA55-A9FF8D46C4B7}"/>
              </a:ext>
            </a:extLst>
          </p:cNvPr>
          <p:cNvSpPr>
            <a:spLocks noGrp="1"/>
          </p:cNvSpPr>
          <p:nvPr/>
        </p:nvSpPr>
        <p:spPr>
          <a:xfrm>
            <a:off x="4438650" y="32194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48.0%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539CCB-1117-4F0D-8BE1-920DB7A776CB}"/>
              </a:ext>
            </a:extLst>
          </p:cNvPr>
          <p:cNvSpPr>
            <a:spLocks noGrp="1"/>
          </p:cNvSpPr>
          <p:nvPr/>
        </p:nvSpPr>
        <p:spPr>
          <a:xfrm>
            <a:off x="5676900" y="32194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52.5%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ADDAC9-F152-4CE7-A152-AAD79E683434}"/>
              </a:ext>
            </a:extLst>
          </p:cNvPr>
          <p:cNvSpPr>
            <a:spLocks noGrp="1"/>
          </p:cNvSpPr>
          <p:nvPr/>
        </p:nvSpPr>
        <p:spPr>
          <a:xfrm>
            <a:off x="6915150" y="32194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43.2%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CAA7A8-1B09-4B8A-B61A-7791E3D3E7E2}"/>
              </a:ext>
            </a:extLst>
          </p:cNvPr>
          <p:cNvSpPr>
            <a:spLocks noGrp="1"/>
          </p:cNvSpPr>
          <p:nvPr/>
        </p:nvSpPr>
        <p:spPr>
          <a:xfrm>
            <a:off x="819150" y="3467100"/>
            <a:ext cx="7334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3943F0-DF33-4871-83BF-6167328C7423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Phase 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14738-63E3-49E5-802C-5A254D8E8192}"/>
              </a:ext>
            </a:extLst>
          </p:cNvPr>
          <p:cNvSpPr>
            <a:spLocks noGrp="1"/>
          </p:cNvSpPr>
          <p:nvPr/>
        </p:nvSpPr>
        <p:spPr>
          <a:xfrm>
            <a:off x="4438650" y="3714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45.3%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96F897-B448-4861-B215-806CBE4DC0C4}"/>
              </a:ext>
            </a:extLst>
          </p:cNvPr>
          <p:cNvSpPr>
            <a:spLocks noGrp="1"/>
          </p:cNvSpPr>
          <p:nvPr/>
        </p:nvSpPr>
        <p:spPr>
          <a:xfrm>
            <a:off x="5676900" y="3714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50.5%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47533D-A7E2-4B62-8FDF-A079EB91A283}"/>
              </a:ext>
            </a:extLst>
          </p:cNvPr>
          <p:cNvSpPr>
            <a:spLocks noGrp="1"/>
          </p:cNvSpPr>
          <p:nvPr/>
        </p:nvSpPr>
        <p:spPr>
          <a:xfrm>
            <a:off x="6915150" y="37147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41.9%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394B63-B97B-486B-BD56-3F99A6DB4441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7334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C2E7E4-EBF3-4C44-A4FE-893767E89140}"/>
              </a:ext>
            </a:extLst>
          </p:cNvPr>
          <p:cNvSpPr>
            <a:spLocks noGrp="1"/>
          </p:cNvSpPr>
          <p:nvPr/>
        </p:nvSpPr>
        <p:spPr>
          <a:xfrm>
            <a:off x="819150" y="4210050"/>
            <a:ext cx="361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Phase 6a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605D7D-A74E-428B-8BBC-7640E63B1FF3}"/>
              </a:ext>
            </a:extLst>
          </p:cNvPr>
          <p:cNvSpPr>
            <a:spLocks noGrp="1"/>
          </p:cNvSpPr>
          <p:nvPr/>
        </p:nvSpPr>
        <p:spPr>
          <a:xfrm>
            <a:off x="4438650" y="42100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48.6%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A367A8-3E28-4DB2-B2CF-24DF25FFE48D}"/>
              </a:ext>
            </a:extLst>
          </p:cNvPr>
          <p:cNvSpPr>
            <a:spLocks noGrp="1"/>
          </p:cNvSpPr>
          <p:nvPr/>
        </p:nvSpPr>
        <p:spPr>
          <a:xfrm>
            <a:off x="5676900" y="42100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59.8%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207557-7B7C-475D-9EC6-B1CC566F5A6C}"/>
              </a:ext>
            </a:extLst>
          </p:cNvPr>
          <p:cNvSpPr>
            <a:spLocks noGrp="1"/>
          </p:cNvSpPr>
          <p:nvPr/>
        </p:nvSpPr>
        <p:spPr>
          <a:xfrm>
            <a:off x="6915150" y="42100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57150" bIns="0" anchor="t"/>
          <a:lstStyle/>
          <a:p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31.8%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83E417-66E8-4F8D-8377-E6E327EC60CD}"/>
              </a:ext>
            </a:extLst>
          </p:cNvPr>
          <p:cNvSpPr>
            <a:spLocks noGrp="1"/>
          </p:cNvSpPr>
          <p:nvPr/>
        </p:nvSpPr>
        <p:spPr>
          <a:xfrm>
            <a:off x="819150" y="4457700"/>
            <a:ext cx="7334250" cy="9525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19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1E1131-649D-41C1-9C8E-3CBD0F8517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28977C-6E10-4299-8FC1-663056A79B2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HONESTY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2BAD34-F145-43AF-98EE-D1217FB07E4A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93FD76-A976-494E-81ED-0AA728EC24F3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headline effect is large; the small deltas need replicates.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A40B8-CF4D-4274-813D-9B9997A21C77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3B2156-6E8B-4CA0-A7B9-B572A659954C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Can claim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B81AC6-F30E-4605-9DD1-7685C52D598D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25D157-3A9C-45FD-99EA-61F5F7F960E9}"/>
              </a:ext>
            </a:extLst>
          </p:cNvPr>
          <p:cNvSpPr>
            <a:spLocks noGrp="1"/>
          </p:cNvSpPr>
          <p:nvPr/>
        </p:nvSpPr>
        <p:spPr>
          <a:xfrm>
            <a:off x="1009650" y="2552700"/>
            <a:ext cx="438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Harness vs comparators: 12-42 pp effect sizes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D06A8-E2C9-4844-8C35-BB879945F528}"/>
              </a:ext>
            </a:extLst>
          </p:cNvPr>
          <p:cNvSpPr>
            <a:spLocks noGrp="1"/>
          </p:cNvSpPr>
          <p:nvPr/>
        </p:nvSpPr>
        <p:spPr>
          <a:xfrm>
            <a:off x="781050" y="339090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8933AF-0225-49B1-A702-E719A0E5D1BE}"/>
              </a:ext>
            </a:extLst>
          </p:cNvPr>
          <p:cNvSpPr>
            <a:spLocks noGrp="1"/>
          </p:cNvSpPr>
          <p:nvPr/>
        </p:nvSpPr>
        <p:spPr>
          <a:xfrm>
            <a:off x="1009650" y="3257550"/>
            <a:ext cx="438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Mechanism metrics align: IoU, lazy rate, failure modes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2B9C05-D96F-45B0-AECF-883467BEB670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76200" cy="76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17BF8E-CA90-4DB7-AD4E-4651FBFFD591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438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Cost-per-correct ratio is robust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3E7044-1CF0-4148-8682-DE7014EE7F45}"/>
              </a:ext>
            </a:extLst>
          </p:cNvPr>
          <p:cNvSpPr>
            <a:spLocks noGrp="1"/>
          </p:cNvSpPr>
          <p:nvPr/>
        </p:nvSpPr>
        <p:spPr>
          <a:xfrm>
            <a:off x="6381750" y="2133600"/>
            <a:ext cx="400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Cannot yet claim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C34963-E67C-4A6F-90D1-8DB3DFA9BE27}"/>
              </a:ext>
            </a:extLst>
          </p:cNvPr>
          <p:cNvSpPr>
            <a:spLocks noGrp="1"/>
          </p:cNvSpPr>
          <p:nvPr/>
        </p:nvSpPr>
        <p:spPr>
          <a:xfrm>
            <a:off x="6381750" y="2686050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1C662D-F641-48BB-8E0E-8FE5A4EA0D99}"/>
              </a:ext>
            </a:extLst>
          </p:cNvPr>
          <p:cNvSpPr>
            <a:spLocks noGrp="1"/>
          </p:cNvSpPr>
          <p:nvPr/>
        </p:nvSpPr>
        <p:spPr>
          <a:xfrm>
            <a:off x="6610350" y="2552700"/>
            <a:ext cx="438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95% CI separation on 1-5 pp harness changes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39E185-862C-4227-827F-5AC2812BE65C}"/>
              </a:ext>
            </a:extLst>
          </p:cNvPr>
          <p:cNvSpPr>
            <a:spLocks noGrp="1"/>
          </p:cNvSpPr>
          <p:nvPr/>
        </p:nvSpPr>
        <p:spPr>
          <a:xfrm>
            <a:off x="6381750" y="3390900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598F54-2D6F-4E22-9434-29A9280C2FA6}"/>
              </a:ext>
            </a:extLst>
          </p:cNvPr>
          <p:cNvSpPr>
            <a:spLocks noGrp="1"/>
          </p:cNvSpPr>
          <p:nvPr/>
        </p:nvSpPr>
        <p:spPr>
          <a:xfrm>
            <a:off x="6610350" y="3257550"/>
            <a:ext cx="438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Optimized comparator claim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4F7FB9-2E3A-453C-8A33-B61F6D6F22FC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76200" cy="76200"/>
          </a:xfrm>
          <a:prstGeom prst="rect">
            <a:avLst/>
          </a:prstGeom>
          <a:solidFill>
            <a:srgbClr val="B4530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CF0244-FD47-442D-9940-28D4AF27C077}"/>
              </a:ext>
            </a:extLst>
          </p:cNvPr>
          <p:cNvSpPr>
            <a:spLocks noGrp="1"/>
          </p:cNvSpPr>
          <p:nvPr/>
        </p:nvSpPr>
        <p:spPr>
          <a:xfrm>
            <a:off x="6610350" y="3962400"/>
            <a:ext cx="438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Generalization beyond parser-bench</a:t>
            </a:r>
          </a:p>
        </p:txBody>
      </p:sp>
    </p:spTree>
    <p:extLst>
      <p:ext uri="{BB962C8B-B14F-4D97-AF65-F5344CB8AC3E}">
        <p14:creationId xmlns:p14="http://schemas.microsoft.com/office/powerpoint/2010/main" val="767153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8B94968-73FD-4756-B154-A43B788FA3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AC3D36-CBA8-4F34-B82E-6DB407EEB99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916711-A871-42D7-AE80-B0E8FFC69D5F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11087100" cy="11430"/>
          </a:xfrm>
          <a:prstGeom prst="rect">
            <a:avLst/>
          </a:prstGeom>
          <a:solidFill>
            <a:srgbClr val="D9D1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6FB83E-1087-4EBF-B2CA-5D7E68967C8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763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next experiment is variance discipline, not another mechanism tweak.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D9F95-7296-4900-B4A1-F72614D52045}"/>
              </a:ext>
            </a:extLst>
          </p:cNvPr>
          <p:cNvSpPr>
            <a:spLocks noGrp="1"/>
          </p:cNvSpPr>
          <p:nvPr/>
        </p:nvSpPr>
        <p:spPr>
          <a:xfrm>
            <a:off x="552450" y="6000750"/>
            <a:ext cx="819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If reduced to one number: FocusParse produces a correct answer for $0.015 while ReAct +4 produces one for $0.24, with higher accuracy.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80DDB8-6B19-463B-97B7-8D5929E52670}"/>
              </a:ext>
            </a:extLst>
          </p:cNvPr>
          <p:cNvSpPr>
            <a:spLocks noGrp="1"/>
          </p:cNvSpPr>
          <p:nvPr/>
        </p:nvSpPr>
        <p:spPr>
          <a:xfrm>
            <a:off x="11029950" y="61722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15B62D-582A-44F9-960C-CF123CA8452B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$0.015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81F6FD-44B2-42E0-9203-483E356D37B9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FocusParse cost per correct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5A7DC5-D790-45E2-8FF7-4699FFEB17A3}"/>
              </a:ext>
            </a:extLst>
          </p:cNvPr>
          <p:cNvSpPr>
            <a:spLocks noGrp="1"/>
          </p:cNvSpPr>
          <p:nvPr/>
        </p:nvSpPr>
        <p:spPr>
          <a:xfrm>
            <a:off x="3657600" y="2324100"/>
            <a:ext cx="2000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$0.24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D7760-42B8-4AB1-8F46-6CC5ADEBFFCE}"/>
              </a:ext>
            </a:extLst>
          </p:cNvPr>
          <p:cNvSpPr>
            <a:spLocks noGrp="1"/>
          </p:cNvSpPr>
          <p:nvPr/>
        </p:nvSpPr>
        <p:spPr>
          <a:xfrm>
            <a:off x="3657600" y="28575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ReAct +4 cost per correct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2DAAED-FE7F-450B-AF72-7F3F933FEBDF}"/>
              </a:ext>
            </a:extLst>
          </p:cNvPr>
          <p:cNvSpPr>
            <a:spLocks noGrp="1"/>
          </p:cNvSpPr>
          <p:nvPr/>
        </p:nvSpPr>
        <p:spPr>
          <a:xfrm>
            <a:off x="6991350" y="2286000"/>
            <a:ext cx="35242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16x cheaper</a:t>
            </a:r>
          </a:p>
          <a:p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while more accurate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3DA1D-73D7-46D2-90BD-CA192CFFB2C4}"/>
              </a:ext>
            </a:extLst>
          </p:cNvPr>
          <p:cNvSpPr>
            <a:spLocks noGrp="1"/>
          </p:cNvSpPr>
          <p:nvPr/>
        </p:nvSpPr>
        <p:spPr>
          <a:xfrm>
            <a:off x="800100" y="4686300"/>
            <a:ext cx="24765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AE8B68-5DF5-4DF3-A801-05CA92E4F5D6}"/>
              </a:ext>
            </a:extLst>
          </p:cNvPr>
          <p:cNvSpPr>
            <a:spLocks noGrp="1"/>
          </p:cNvSpPr>
          <p:nvPr/>
        </p:nvSpPr>
        <p:spPr>
          <a:xfrm>
            <a:off x="800100" y="489585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&gt;=2 replicates per cell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483130-899B-4971-8BB3-F49F426F6481}"/>
              </a:ext>
            </a:extLst>
          </p:cNvPr>
          <p:cNvSpPr>
            <a:spLocks noGrp="1"/>
          </p:cNvSpPr>
          <p:nvPr/>
        </p:nvSpPr>
        <p:spPr>
          <a:xfrm>
            <a:off x="4181475" y="4686300"/>
            <a:ext cx="24765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706278-6C3F-4AAC-9C77-B47344387DB5}"/>
              </a:ext>
            </a:extLst>
          </p:cNvPr>
          <p:cNvSpPr>
            <a:spLocks noGrp="1"/>
          </p:cNvSpPr>
          <p:nvPr/>
        </p:nvSpPr>
        <p:spPr>
          <a:xfrm>
            <a:off x="4181475" y="489585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Cache upstream planner/rerank for deterministic A/Bs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EE6FBC-EB66-4C2D-B878-5F5FD4FF73AE}"/>
              </a:ext>
            </a:extLst>
          </p:cNvPr>
          <p:cNvSpPr>
            <a:spLocks noGrp="1"/>
          </p:cNvSpPr>
          <p:nvPr/>
        </p:nvSpPr>
        <p:spPr>
          <a:xfrm>
            <a:off x="7562850" y="4686300"/>
            <a:ext cx="24765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A28478-4172-4B56-BDF9-1CB46C52E1FE}"/>
              </a:ext>
            </a:extLst>
          </p:cNvPr>
          <p:cNvSpPr>
            <a:spLocks noGrp="1"/>
          </p:cNvSpPr>
          <p:nvPr/>
        </p:nvSpPr>
        <p:spPr>
          <a:xfrm>
            <a:off x="7562850" y="4895850"/>
            <a:ext cx="2686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Then test domain prompt routing and self-consistency</a:t>
            </a:r>
          </a:p>
        </p:txBody>
      </p:sp>
    </p:spTree>
    <p:extLst>
      <p:ext uri="{BB962C8B-B14F-4D97-AF65-F5344CB8AC3E}">
        <p14:creationId xmlns:p14="http://schemas.microsoft.com/office/powerpoint/2010/main" val="15363086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4719</Words>
  <Application>Microsoft Macintosh PowerPoint</Application>
  <DocSecurity>0</DocSecurity>
  <PresentationFormat>Widescreen</PresentationFormat>
  <Paragraphs>718</Paragraphs>
  <Slides>32</Slides>
  <Notes>32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Lin, Phoena Z</cp:lastModifiedBy>
  <cp:revision>3</cp:revision>
  <dcterms:created xsi:type="dcterms:W3CDTF">2026-05-13T21:56:43Z</dcterms:created>
  <dcterms:modified xsi:type="dcterms:W3CDTF">2026-05-13T22:17:01Z</dcterms:modified>
</cp:coreProperties>
</file>